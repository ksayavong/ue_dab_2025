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C1BB44-83B2-EDDC-2326-513387BD9550}" v="106" dt="2026-03-19T19:07:12.5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34C68101-B5DE-43BE-A110-4A9B9D0E9ACA}" type="datetimeFigureOut">
              <a:t>3/19/2026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899C83B0-25FD-43B5-A869-C7889F99DB51}" type="slidenum">
              <a:t>‹#›</a:t>
            </a:fld>
            <a:endParaRPr lang="en-US"/>
          </a:p>
        </p:txBody>
      </p:sp>
    </p:spTree>
    <p:extLst>
      <p:ext uri="{BB962C8B-B14F-4D97-AF65-F5344CB8AC3E}">
        <p14:creationId xmlns:p14="http://schemas.microsoft.com/office/powerpoint/2010/main" val="4119618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1C7293"/>
          </a:solidFill>
          <a:ln w="12700">
            <a:solidFill>
              <a:srgbClr val="1C7293"/>
            </a:solidFill>
            <a:prstDash val="solid"/>
          </a:ln>
        </p:spPr>
      </p:sp>
      <p:sp>
        <p:nvSpPr>
          <p:cNvPr id="3" name="Text 1"/>
          <p:cNvSpPr/>
          <p:nvPr/>
        </p:nvSpPr>
        <p:spPr>
          <a:xfrm>
            <a:off x="548640" y="365760"/>
            <a:ext cx="8046720" cy="210312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Financial Risk &amp;</a:t>
            </a:r>
            <a:endParaRPr lang="en-US" sz="4400" dirty="0"/>
          </a:p>
          <a:p>
            <a:pPr marL="0" indent="0">
              <a:buNone/>
            </a:pPr>
            <a:r>
              <a:rPr lang="en-US" sz="4400" b="1" dirty="0">
                <a:solidFill>
                  <a:srgbClr val="FFFFFF"/>
                </a:solidFill>
                <a:latin typeface="Calibri" pitchFamily="34" charset="0"/>
                <a:ea typeface="Calibri" pitchFamily="34" charset="-122"/>
                <a:cs typeface="Calibri" pitchFamily="34" charset="-120"/>
              </a:rPr>
              <a:t>Data Integrity Audit</a:t>
            </a:r>
            <a:endParaRPr lang="en-US" sz="4400" dirty="0"/>
          </a:p>
        </p:txBody>
      </p:sp>
      <p:sp>
        <p:nvSpPr>
          <p:cNvPr id="4" name="Text 2"/>
          <p:cNvSpPr/>
          <p:nvPr/>
        </p:nvSpPr>
        <p:spPr>
          <a:xfrm>
            <a:off x="548640" y="2468880"/>
            <a:ext cx="8046720" cy="594360"/>
          </a:xfrm>
          <a:prstGeom prst="rect">
            <a:avLst/>
          </a:prstGeom>
          <a:noFill/>
          <a:ln/>
        </p:spPr>
        <p:txBody>
          <a:bodyPr wrap="square" rtlCol="0" anchor="ctr"/>
          <a:lstStyle/>
          <a:p>
            <a:pPr marL="0" indent="0">
              <a:buNone/>
            </a:pPr>
            <a:r>
              <a:rPr lang="en-US" sz="1900" i="1" dirty="0">
                <a:solidFill>
                  <a:srgbClr val="A8D4E8"/>
                </a:solidFill>
                <a:latin typeface="Calibri" pitchFamily="34" charset="0"/>
                <a:ea typeface="Calibri" pitchFamily="34" charset="-122"/>
                <a:cs typeface="Calibri" pitchFamily="34" charset="-120"/>
              </a:rPr>
              <a:t>Analyzing Loan Default Risk Using Machine Learning</a:t>
            </a:r>
            <a:endParaRPr lang="en-US" sz="1900" dirty="0"/>
          </a:p>
        </p:txBody>
      </p:sp>
      <p:sp>
        <p:nvSpPr>
          <p:cNvPr id="5" name="Text 3"/>
          <p:cNvSpPr/>
          <p:nvPr/>
        </p:nvSpPr>
        <p:spPr>
          <a:xfrm>
            <a:off x="548640" y="3566160"/>
            <a:ext cx="804672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Kevin Sayavong  |  Data Analytics Bootcamp  |  Capstone Project</a:t>
            </a:r>
            <a:endParaRPr lang="en-US" sz="1500" dirty="0"/>
          </a:p>
        </p:txBody>
      </p:sp>
      <p:sp>
        <p:nvSpPr>
          <p:cNvPr id="6" name="Text 4"/>
          <p:cNvSpPr/>
          <p:nvPr/>
        </p:nvSpPr>
        <p:spPr>
          <a:xfrm>
            <a:off x="548640" y="4069080"/>
            <a:ext cx="8046720" cy="365760"/>
          </a:xfrm>
          <a:prstGeom prst="rect">
            <a:avLst/>
          </a:prstGeom>
          <a:noFill/>
          <a:ln/>
        </p:spPr>
        <p:txBody>
          <a:bodyPr wrap="square" rtlCol="0" anchor="ctr"/>
          <a:lstStyle/>
          <a:p>
            <a:pPr marL="0" indent="0">
              <a:buNone/>
            </a:pPr>
            <a:r>
              <a:rPr lang="en-US" sz="1200" dirty="0">
                <a:solidFill>
                  <a:srgbClr val="CCE8F4"/>
                </a:solidFill>
                <a:latin typeface="Calibri" pitchFamily="34" charset="0"/>
                <a:ea typeface="Calibri" pitchFamily="34" charset="-122"/>
                <a:cs typeface="Calibri" pitchFamily="34" charset="-120"/>
              </a:rPr>
              <a:t>Dataset: LendingClub Loan Data (Kaggle)  |  9,578 Records  |  Logistic Regression Model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5A82"/>
          </a:solidFill>
          <a:ln w="12700">
            <a:solidFill>
              <a:srgbClr val="065A82"/>
            </a:solidFill>
            <a:prstDash val="solid"/>
          </a:ln>
        </p:spPr>
      </p:sp>
      <p:sp>
        <p:nvSpPr>
          <p:cNvPr id="3" name="Text 1"/>
          <p:cNvSpPr/>
          <p:nvPr/>
        </p:nvSpPr>
        <p:spPr>
          <a:xfrm>
            <a:off x="365760" y="73152"/>
            <a:ext cx="841248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About Me</a:t>
            </a:r>
            <a:endParaRPr lang="en-US" sz="2400" dirty="0"/>
          </a:p>
        </p:txBody>
      </p:sp>
      <p:sp>
        <p:nvSpPr>
          <p:cNvPr id="4" name="Text 2"/>
          <p:cNvSpPr/>
          <p:nvPr/>
        </p:nvSpPr>
        <p:spPr>
          <a:xfrm>
            <a:off x="365760" y="566928"/>
            <a:ext cx="8412480" cy="329184"/>
          </a:xfrm>
          <a:prstGeom prst="rect">
            <a:avLst/>
          </a:prstGeom>
          <a:noFill/>
          <a:ln/>
        </p:spPr>
        <p:txBody>
          <a:bodyPr wrap="square" rtlCol="0" anchor="ctr"/>
          <a:lstStyle/>
          <a:p>
            <a:pPr marL="0" indent="0">
              <a:buNone/>
            </a:pPr>
            <a:r>
              <a:rPr lang="en-US" sz="1200" i="1" dirty="0">
                <a:solidFill>
                  <a:srgbClr val="A8D4E8"/>
                </a:solidFill>
                <a:latin typeface="Calibri" pitchFamily="34" charset="0"/>
                <a:ea typeface="Calibri" pitchFamily="34" charset="-122"/>
                <a:cs typeface="Calibri" pitchFamily="34" charset="-120"/>
              </a:rPr>
              <a:t>Background &amp; why this project matters personally</a:t>
            </a:r>
            <a:endParaRPr lang="en-US" sz="1200" dirty="0"/>
          </a:p>
        </p:txBody>
      </p:sp>
      <p:sp>
        <p:nvSpPr>
          <p:cNvPr id="5" name="Shape 3"/>
          <p:cNvSpPr/>
          <p:nvPr/>
        </p:nvSpPr>
        <p:spPr>
          <a:xfrm>
            <a:off x="0" y="4892040"/>
            <a:ext cx="9144000" cy="251460"/>
          </a:xfrm>
          <a:prstGeom prst="rect">
            <a:avLst/>
          </a:prstGeom>
          <a:solidFill>
            <a:srgbClr val="EEF4F8"/>
          </a:solidFill>
          <a:ln w="12700">
            <a:solidFill>
              <a:srgbClr val="EEF4F8"/>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Kevin Sayavong  |  Data Analytics Capstone  |  LendingClub Loan Default Analysis</a:t>
            </a:r>
            <a:endParaRPr lang="en-US" sz="900" dirty="0"/>
          </a:p>
        </p:txBody>
      </p:sp>
      <p:sp>
        <p:nvSpPr>
          <p:cNvPr id="7" name="Shape 5"/>
          <p:cNvSpPr/>
          <p:nvPr/>
        </p:nvSpPr>
        <p:spPr>
          <a:xfrm>
            <a:off x="274320" y="1051560"/>
            <a:ext cx="4160520" cy="3703320"/>
          </a:xfrm>
          <a:prstGeom prst="rect">
            <a:avLst/>
          </a:prstGeom>
          <a:solidFill>
            <a:srgbClr val="065A82"/>
          </a:solidFill>
          <a:ln w="12700">
            <a:solidFill>
              <a:srgbClr val="065A82"/>
            </a:solidFill>
            <a:prstDash val="solid"/>
          </a:ln>
          <a:effectLst>
            <a:outerShdw blurRad="101600" dist="25400" dir="8100000" algn="bl" rotWithShape="0">
              <a:srgbClr val="000000">
                <a:alpha val="10000"/>
              </a:srgbClr>
            </a:outerShdw>
          </a:effectLst>
        </p:spPr>
      </p:sp>
      <p:sp>
        <p:nvSpPr>
          <p:cNvPr id="8" name="Text 6"/>
          <p:cNvSpPr/>
          <p:nvPr/>
        </p:nvSpPr>
        <p:spPr>
          <a:xfrm>
            <a:off x="411480" y="1170432"/>
            <a:ext cx="3886200" cy="384048"/>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Kevin Sayavong</a:t>
            </a:r>
            <a:endParaRPr lang="en-US" sz="1800" dirty="0"/>
          </a:p>
        </p:txBody>
      </p:sp>
      <p:sp>
        <p:nvSpPr>
          <p:cNvPr id="9" name="Text 7"/>
          <p:cNvSpPr/>
          <p:nvPr/>
        </p:nvSpPr>
        <p:spPr>
          <a:xfrm>
            <a:off x="411480" y="1536192"/>
            <a:ext cx="3886200" cy="347472"/>
          </a:xfrm>
          <a:prstGeom prst="rect">
            <a:avLst/>
          </a:prstGeom>
          <a:noFill/>
          <a:ln/>
        </p:spPr>
        <p:txBody>
          <a:bodyPr wrap="square" rtlCol="0" anchor="ctr"/>
          <a:lstStyle/>
          <a:p>
            <a:pPr marL="0" indent="0">
              <a:buNone/>
            </a:pPr>
            <a:r>
              <a:rPr lang="en-US" sz="1200" i="1" dirty="0">
                <a:solidFill>
                  <a:srgbClr val="A8D4E8"/>
                </a:solidFill>
                <a:latin typeface="Calibri" pitchFamily="34" charset="0"/>
                <a:ea typeface="Calibri" pitchFamily="34" charset="-122"/>
                <a:cs typeface="Calibri" pitchFamily="34" charset="-120"/>
              </a:rPr>
              <a:t>Data Analytics Bootcamp  |  Capstone Project</a:t>
            </a:r>
            <a:endParaRPr lang="en-US" sz="1200" dirty="0"/>
          </a:p>
        </p:txBody>
      </p:sp>
      <p:sp>
        <p:nvSpPr>
          <p:cNvPr id="10" name="Shape 8"/>
          <p:cNvSpPr/>
          <p:nvPr/>
        </p:nvSpPr>
        <p:spPr>
          <a:xfrm>
            <a:off x="365760" y="1993392"/>
            <a:ext cx="3931920" cy="749808"/>
          </a:xfrm>
          <a:prstGeom prst="rect">
            <a:avLst/>
          </a:prstGeom>
          <a:solidFill>
            <a:srgbClr val="003F6B"/>
          </a:solidFill>
          <a:ln w="12700">
            <a:solidFill>
              <a:srgbClr val="004F82"/>
            </a:solidFill>
            <a:prstDash val="solid"/>
          </a:ln>
        </p:spPr>
      </p:sp>
      <p:sp>
        <p:nvSpPr>
          <p:cNvPr id="11" name="Text 9"/>
          <p:cNvSpPr/>
          <p:nvPr/>
        </p:nvSpPr>
        <p:spPr>
          <a:xfrm>
            <a:off x="502920" y="2011680"/>
            <a:ext cx="3657600" cy="713232"/>
          </a:xfrm>
          <a:prstGeom prst="rect">
            <a:avLst/>
          </a:prstGeom>
          <a:noFill/>
          <a:ln/>
        </p:spPr>
        <p:txBody>
          <a:bodyPr wrap="square" rtlCol="0" anchor="ctr"/>
          <a:lstStyle/>
          <a:p>
            <a:pPr marL="0" indent="0">
              <a:buNone/>
            </a:pPr>
            <a:r>
              <a:rPr lang="en-US" sz="1200" b="1" dirty="0">
                <a:solidFill>
                  <a:srgbClr val="A8D4E8"/>
                </a:solidFill>
                <a:latin typeface="Calibri" pitchFamily="34" charset="0"/>
                <a:ea typeface="Calibri" pitchFamily="34" charset="-122"/>
                <a:cs typeface="Calibri" pitchFamily="34" charset="-120"/>
              </a:rPr>
              <a:t>Role:  </a:t>
            </a:r>
            <a:r>
              <a:rPr lang="en-US" sz="1200" dirty="0">
                <a:solidFill>
                  <a:srgbClr val="FFFFFF"/>
                </a:solidFill>
                <a:latin typeface="Calibri" pitchFamily="34" charset="0"/>
                <a:ea typeface="Calibri" pitchFamily="34" charset="-122"/>
                <a:cs typeface="Calibri" pitchFamily="34" charset="-120"/>
              </a:rPr>
              <a:t>Developer — Master Data Management Dept.</a:t>
            </a:r>
            <a:endParaRPr lang="en-US" sz="1200" dirty="0"/>
          </a:p>
        </p:txBody>
      </p:sp>
      <p:sp>
        <p:nvSpPr>
          <p:cNvPr id="12" name="Shape 10"/>
          <p:cNvSpPr/>
          <p:nvPr/>
        </p:nvSpPr>
        <p:spPr>
          <a:xfrm>
            <a:off x="365760" y="2862072"/>
            <a:ext cx="3931920" cy="749808"/>
          </a:xfrm>
          <a:prstGeom prst="rect">
            <a:avLst/>
          </a:prstGeom>
          <a:solidFill>
            <a:srgbClr val="003F6B"/>
          </a:solidFill>
          <a:ln w="12700">
            <a:solidFill>
              <a:srgbClr val="004F82"/>
            </a:solidFill>
            <a:prstDash val="solid"/>
          </a:ln>
        </p:spPr>
      </p:sp>
      <p:sp>
        <p:nvSpPr>
          <p:cNvPr id="13" name="Text 11"/>
          <p:cNvSpPr/>
          <p:nvPr/>
        </p:nvSpPr>
        <p:spPr>
          <a:xfrm>
            <a:off x="502920" y="2880360"/>
            <a:ext cx="3657600" cy="713232"/>
          </a:xfrm>
          <a:prstGeom prst="rect">
            <a:avLst/>
          </a:prstGeom>
          <a:noFill/>
          <a:ln/>
        </p:spPr>
        <p:txBody>
          <a:bodyPr wrap="square" rtlCol="0" anchor="ctr"/>
          <a:lstStyle/>
          <a:p>
            <a:pPr marL="0" indent="0">
              <a:buNone/>
            </a:pPr>
            <a:r>
              <a:rPr lang="en-US" sz="1200" b="1" dirty="0">
                <a:solidFill>
                  <a:srgbClr val="A8D4E8"/>
                </a:solidFill>
                <a:latin typeface="Calibri" pitchFamily="34" charset="0"/>
                <a:ea typeface="Calibri" pitchFamily="34" charset="-122"/>
                <a:cs typeface="Calibri" pitchFamily="34" charset="-120"/>
              </a:rPr>
              <a:t>Company:  </a:t>
            </a:r>
            <a:r>
              <a:rPr lang="en-US" sz="1200" dirty="0">
                <a:solidFill>
                  <a:srgbClr val="FFFFFF"/>
                </a:solidFill>
                <a:latin typeface="Calibri" pitchFamily="34" charset="0"/>
                <a:ea typeface="Calibri" pitchFamily="34" charset="-122"/>
                <a:cs typeface="Calibri" pitchFamily="34" charset="-120"/>
              </a:rPr>
              <a:t>Northwestern Mutual Life Insurance</a:t>
            </a:r>
            <a:endParaRPr lang="en-US" sz="1200" dirty="0"/>
          </a:p>
        </p:txBody>
      </p:sp>
      <p:sp>
        <p:nvSpPr>
          <p:cNvPr id="14" name="Shape 12"/>
          <p:cNvSpPr/>
          <p:nvPr/>
        </p:nvSpPr>
        <p:spPr>
          <a:xfrm>
            <a:off x="365760" y="3730752"/>
            <a:ext cx="3931920" cy="749808"/>
          </a:xfrm>
          <a:prstGeom prst="rect">
            <a:avLst/>
          </a:prstGeom>
          <a:solidFill>
            <a:srgbClr val="003F6B"/>
          </a:solidFill>
          <a:ln w="12700">
            <a:solidFill>
              <a:srgbClr val="004F82"/>
            </a:solidFill>
            <a:prstDash val="solid"/>
          </a:ln>
        </p:spPr>
      </p:sp>
      <p:sp>
        <p:nvSpPr>
          <p:cNvPr id="15" name="Text 13"/>
          <p:cNvSpPr/>
          <p:nvPr/>
        </p:nvSpPr>
        <p:spPr>
          <a:xfrm>
            <a:off x="502920" y="3749040"/>
            <a:ext cx="3657600" cy="713232"/>
          </a:xfrm>
          <a:prstGeom prst="rect">
            <a:avLst/>
          </a:prstGeom>
          <a:noFill/>
          <a:ln/>
        </p:spPr>
        <p:txBody>
          <a:bodyPr wrap="square" rtlCol="0" anchor="ctr"/>
          <a:lstStyle/>
          <a:p>
            <a:pPr marL="0" indent="0">
              <a:buNone/>
            </a:pPr>
            <a:r>
              <a:rPr lang="en-US" sz="1200" b="1" dirty="0">
                <a:solidFill>
                  <a:srgbClr val="A8D4E8"/>
                </a:solidFill>
                <a:latin typeface="Calibri" pitchFamily="34" charset="0"/>
                <a:ea typeface="Calibri" pitchFamily="34" charset="-122"/>
                <a:cs typeface="Calibri" pitchFamily="34" charset="-120"/>
              </a:rPr>
              <a:t>Focus:  </a:t>
            </a:r>
            <a:r>
              <a:rPr lang="en-US" sz="1200" dirty="0">
                <a:solidFill>
                  <a:srgbClr val="FFFFFF"/>
                </a:solidFill>
                <a:latin typeface="Calibri" pitchFamily="34" charset="0"/>
                <a:ea typeface="Calibri" pitchFamily="34" charset="-122"/>
                <a:cs typeface="Calibri" pitchFamily="34" charset="-120"/>
              </a:rPr>
              <a:t>Data integrity, validation pipelines, and reliable data systems that power financial risk models</a:t>
            </a:r>
            <a:endParaRPr lang="en-US" sz="1200" dirty="0"/>
          </a:p>
        </p:txBody>
      </p:sp>
      <p:sp>
        <p:nvSpPr>
          <p:cNvPr id="16" name="Shape 14"/>
          <p:cNvSpPr/>
          <p:nvPr/>
        </p:nvSpPr>
        <p:spPr>
          <a:xfrm>
            <a:off x="4663440" y="1051560"/>
            <a:ext cx="4160520" cy="3703320"/>
          </a:xfrm>
          <a:prstGeom prst="rect">
            <a:avLst/>
          </a:prstGeom>
          <a:solidFill>
            <a:srgbClr val="FFF8E1"/>
          </a:solidFill>
          <a:ln w="12700">
            <a:solidFill>
              <a:srgbClr val="F5C842"/>
            </a:solidFill>
            <a:prstDash val="solid"/>
          </a:ln>
          <a:effectLst>
            <a:outerShdw blurRad="101600" dist="25400" dir="8100000" algn="bl" rotWithShape="0">
              <a:srgbClr val="000000">
                <a:alpha val="10000"/>
              </a:srgbClr>
            </a:outerShdw>
          </a:effectLst>
        </p:spPr>
      </p:sp>
      <p:sp>
        <p:nvSpPr>
          <p:cNvPr id="17" name="Text 15"/>
          <p:cNvSpPr/>
          <p:nvPr/>
        </p:nvSpPr>
        <p:spPr>
          <a:xfrm>
            <a:off x="4800600" y="1143000"/>
            <a:ext cx="3886200" cy="347472"/>
          </a:xfrm>
          <a:prstGeom prst="rect">
            <a:avLst/>
          </a:prstGeom>
          <a:noFill/>
          <a:ln/>
        </p:spPr>
        <p:txBody>
          <a:bodyPr wrap="square" rtlCol="0" anchor="ctr"/>
          <a:lstStyle/>
          <a:p>
            <a:pPr marL="0" indent="0">
              <a:buNone/>
            </a:pPr>
            <a:r>
              <a:rPr lang="en-US" sz="1500" b="1" dirty="0">
                <a:solidFill>
                  <a:srgbClr val="8B5E00"/>
                </a:solidFill>
                <a:latin typeface="Calibri" pitchFamily="34" charset="0"/>
                <a:ea typeface="Calibri" pitchFamily="34" charset="-122"/>
                <a:cs typeface="Calibri" pitchFamily="34" charset="-120"/>
              </a:rPr>
              <a:t>Why This Project?</a:t>
            </a:r>
            <a:endParaRPr lang="en-US" sz="1500" dirty="0"/>
          </a:p>
        </p:txBody>
      </p:sp>
      <p:sp>
        <p:nvSpPr>
          <p:cNvPr id="18" name="Shape 16"/>
          <p:cNvSpPr/>
          <p:nvPr/>
        </p:nvSpPr>
        <p:spPr>
          <a:xfrm>
            <a:off x="4800600" y="1572768"/>
            <a:ext cx="3886200" cy="914400"/>
          </a:xfrm>
          <a:prstGeom prst="rect">
            <a:avLst/>
          </a:prstGeom>
          <a:solidFill>
            <a:srgbClr val="FFFDE7"/>
          </a:solidFill>
          <a:ln w="6350">
            <a:solidFill>
              <a:srgbClr val="F5C842"/>
            </a:solidFill>
            <a:prstDash val="solid"/>
          </a:ln>
        </p:spPr>
      </p:sp>
      <p:sp>
        <p:nvSpPr>
          <p:cNvPr id="19" name="Text 17"/>
          <p:cNvSpPr/>
          <p:nvPr/>
        </p:nvSpPr>
        <p:spPr>
          <a:xfrm>
            <a:off x="4919472" y="1600200"/>
            <a:ext cx="3648456" cy="859536"/>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At Northwestern Mutual, clean and reliable Master Data is the foundation of every risk decision the company makes.</a:t>
            </a:r>
            <a:endParaRPr lang="en-US" sz="1100" dirty="0"/>
          </a:p>
        </p:txBody>
      </p:sp>
      <p:sp>
        <p:nvSpPr>
          <p:cNvPr id="20" name="Shape 18"/>
          <p:cNvSpPr/>
          <p:nvPr/>
        </p:nvSpPr>
        <p:spPr>
          <a:xfrm>
            <a:off x="4800600" y="2596896"/>
            <a:ext cx="3886200" cy="914400"/>
          </a:xfrm>
          <a:prstGeom prst="rect">
            <a:avLst/>
          </a:prstGeom>
          <a:solidFill>
            <a:srgbClr val="FFFDE7"/>
          </a:solidFill>
          <a:ln w="6350">
            <a:solidFill>
              <a:srgbClr val="F5C842"/>
            </a:solidFill>
            <a:prstDash val="solid"/>
          </a:ln>
        </p:spPr>
      </p:sp>
      <p:sp>
        <p:nvSpPr>
          <p:cNvPr id="21" name="Text 19"/>
          <p:cNvSpPr/>
          <p:nvPr/>
        </p:nvSpPr>
        <p:spPr>
          <a:xfrm>
            <a:off x="4919472" y="2624328"/>
            <a:ext cx="3648456" cy="859536"/>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This project directly mirrors that work — raw financial data must be validated, transformed, and engineered before any meaningful analysis can begin.</a:t>
            </a:r>
            <a:endParaRPr lang="en-US" sz="1100" dirty="0"/>
          </a:p>
        </p:txBody>
      </p:sp>
      <p:sp>
        <p:nvSpPr>
          <p:cNvPr id="22" name="Shape 20"/>
          <p:cNvSpPr/>
          <p:nvPr/>
        </p:nvSpPr>
        <p:spPr>
          <a:xfrm>
            <a:off x="4800600" y="3621024"/>
            <a:ext cx="3886200" cy="914400"/>
          </a:xfrm>
          <a:prstGeom prst="rect">
            <a:avLst/>
          </a:prstGeom>
          <a:solidFill>
            <a:srgbClr val="FFFDE7"/>
          </a:solidFill>
          <a:ln w="6350">
            <a:solidFill>
              <a:srgbClr val="F5C842"/>
            </a:solidFill>
            <a:prstDash val="solid"/>
          </a:ln>
        </p:spPr>
      </p:sp>
      <p:sp>
        <p:nvSpPr>
          <p:cNvPr id="23" name="Text 21"/>
          <p:cNvSpPr/>
          <p:nvPr/>
        </p:nvSpPr>
        <p:spPr>
          <a:xfrm>
            <a:off x="4919472" y="3648456"/>
            <a:ext cx="3648456" cy="859536"/>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The question of who will repay a loan is fundamentally a data quality and data engineering problem as much as a data science one.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5A82"/>
          </a:solidFill>
          <a:ln w="12700">
            <a:solidFill>
              <a:srgbClr val="065A82"/>
            </a:solidFill>
            <a:prstDash val="solid"/>
          </a:ln>
        </p:spPr>
      </p:sp>
      <p:sp>
        <p:nvSpPr>
          <p:cNvPr id="3" name="Text 1"/>
          <p:cNvSpPr/>
          <p:nvPr/>
        </p:nvSpPr>
        <p:spPr>
          <a:xfrm>
            <a:off x="365760" y="73152"/>
            <a:ext cx="841248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The Business Problem</a:t>
            </a:r>
            <a:endParaRPr lang="en-US" sz="2400" dirty="0"/>
          </a:p>
        </p:txBody>
      </p:sp>
      <p:sp>
        <p:nvSpPr>
          <p:cNvPr id="4" name="Text 2"/>
          <p:cNvSpPr/>
          <p:nvPr/>
        </p:nvSpPr>
        <p:spPr>
          <a:xfrm>
            <a:off x="365760" y="566928"/>
            <a:ext cx="8412480" cy="329184"/>
          </a:xfrm>
          <a:prstGeom prst="rect">
            <a:avLst/>
          </a:prstGeom>
          <a:noFill/>
          <a:ln/>
        </p:spPr>
        <p:txBody>
          <a:bodyPr wrap="square" rtlCol="0" anchor="ctr"/>
          <a:lstStyle/>
          <a:p>
            <a:pPr marL="0" indent="0">
              <a:buNone/>
            </a:pPr>
            <a:r>
              <a:rPr lang="en-US" sz="1200" i="1" dirty="0">
                <a:solidFill>
                  <a:srgbClr val="A8D4E8"/>
                </a:solidFill>
                <a:latin typeface="Calibri" pitchFamily="34" charset="0"/>
                <a:ea typeface="Calibri" pitchFamily="34" charset="-122"/>
                <a:cs typeface="Calibri" pitchFamily="34" charset="-120"/>
              </a:rPr>
              <a:t>Why does predicting loan default matter?</a:t>
            </a:r>
            <a:endParaRPr lang="en-US" sz="1200" dirty="0"/>
          </a:p>
        </p:txBody>
      </p:sp>
      <p:sp>
        <p:nvSpPr>
          <p:cNvPr id="5" name="Shape 3"/>
          <p:cNvSpPr/>
          <p:nvPr/>
        </p:nvSpPr>
        <p:spPr>
          <a:xfrm>
            <a:off x="0" y="4892040"/>
            <a:ext cx="9144000" cy="251460"/>
          </a:xfrm>
          <a:prstGeom prst="rect">
            <a:avLst/>
          </a:prstGeom>
          <a:solidFill>
            <a:srgbClr val="EEF4F8"/>
          </a:solidFill>
          <a:ln w="12700">
            <a:solidFill>
              <a:srgbClr val="EEF4F8"/>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Kevin Sayavong  |  Data Analytics Capstone  |  LendingClub Loan Default Analysis</a:t>
            </a:r>
            <a:endParaRPr lang="en-US" sz="900" dirty="0"/>
          </a:p>
        </p:txBody>
      </p:sp>
      <p:sp>
        <p:nvSpPr>
          <p:cNvPr id="7" name="Text 5"/>
          <p:cNvSpPr/>
          <p:nvPr/>
        </p:nvSpPr>
        <p:spPr>
          <a:xfrm>
            <a:off x="365760" y="1097280"/>
            <a:ext cx="5029200" cy="566928"/>
          </a:xfrm>
          <a:prstGeom prst="rect">
            <a:avLst/>
          </a:prstGeom>
          <a:noFill/>
          <a:ln/>
        </p:spPr>
        <p:txBody>
          <a:bodyPr wrap="square"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LendingClub </a:t>
            </a:r>
            <a:r>
              <a:rPr lang="en-US" sz="1400" dirty="0">
                <a:solidFill>
                  <a:srgbClr val="2D3748"/>
                </a:solidFill>
                <a:latin typeface="Calibri" pitchFamily="34" charset="0"/>
                <a:ea typeface="Calibri" pitchFamily="34" charset="-122"/>
                <a:cs typeface="Calibri" pitchFamily="34" charset="-120"/>
              </a:rPr>
              <a:t>must decide who to lend money to before knowing if that person will pay it back.</a:t>
            </a:r>
            <a:endParaRPr lang="en-US" sz="1400" dirty="0"/>
          </a:p>
        </p:txBody>
      </p:sp>
      <p:sp>
        <p:nvSpPr>
          <p:cNvPr id="8" name="Shape 6"/>
          <p:cNvSpPr/>
          <p:nvPr/>
        </p:nvSpPr>
        <p:spPr>
          <a:xfrm>
            <a:off x="365760" y="1755648"/>
            <a:ext cx="5029200" cy="548640"/>
          </a:xfrm>
          <a:prstGeom prst="rect">
            <a:avLst/>
          </a:prstGeom>
          <a:solidFill>
            <a:srgbClr val="EEF4F8"/>
          </a:solidFill>
          <a:ln w="6350">
            <a:solidFill>
              <a:srgbClr val="DDDDDD"/>
            </a:solidFill>
            <a:prstDash val="solid"/>
          </a:ln>
        </p:spPr>
      </p:sp>
      <p:sp>
        <p:nvSpPr>
          <p:cNvPr id="9" name="Text 7"/>
          <p:cNvSpPr/>
          <p:nvPr/>
        </p:nvSpPr>
        <p:spPr>
          <a:xfrm>
            <a:off x="502920" y="1773936"/>
            <a:ext cx="4754880" cy="512064"/>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Approve a risky loan →</a:t>
            </a:r>
            <a:r>
              <a:rPr lang="en-US" sz="1300" dirty="0">
                <a:solidFill>
                  <a:srgbClr val="2D3748"/>
                </a:solidFill>
                <a:latin typeface="Calibri" pitchFamily="34" charset="0"/>
                <a:ea typeface="Calibri" pitchFamily="34" charset="-122"/>
                <a:cs typeface="Calibri" pitchFamily="34" charset="-120"/>
              </a:rPr>
              <a:t>  borrower defaults, lender loses money</a:t>
            </a:r>
            <a:endParaRPr lang="en-US" sz="1300" dirty="0"/>
          </a:p>
        </p:txBody>
      </p:sp>
      <p:sp>
        <p:nvSpPr>
          <p:cNvPr id="10" name="Shape 8"/>
          <p:cNvSpPr/>
          <p:nvPr/>
        </p:nvSpPr>
        <p:spPr>
          <a:xfrm>
            <a:off x="365760" y="2414016"/>
            <a:ext cx="5029200" cy="548640"/>
          </a:xfrm>
          <a:prstGeom prst="rect">
            <a:avLst/>
          </a:prstGeom>
          <a:solidFill>
            <a:srgbClr val="FDECEA"/>
          </a:solidFill>
          <a:ln w="6350">
            <a:solidFill>
              <a:srgbClr val="DDDDDD"/>
            </a:solidFill>
            <a:prstDash val="solid"/>
          </a:ln>
        </p:spPr>
      </p:sp>
      <p:sp>
        <p:nvSpPr>
          <p:cNvPr id="11" name="Text 9"/>
          <p:cNvSpPr/>
          <p:nvPr/>
        </p:nvSpPr>
        <p:spPr>
          <a:xfrm>
            <a:off x="502920" y="2432304"/>
            <a:ext cx="4754880" cy="512064"/>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Reject a good borrower →</a:t>
            </a:r>
            <a:r>
              <a:rPr lang="en-US" sz="1300" dirty="0">
                <a:solidFill>
                  <a:srgbClr val="2D3748"/>
                </a:solidFill>
                <a:latin typeface="Calibri" pitchFamily="34" charset="0"/>
                <a:ea typeface="Calibri" pitchFamily="34" charset="-122"/>
                <a:cs typeface="Calibri" pitchFamily="34" charset="-120"/>
              </a:rPr>
              <a:t>  lost revenue + harm to the applicant</a:t>
            </a:r>
            <a:endParaRPr lang="en-US" sz="1300" dirty="0"/>
          </a:p>
        </p:txBody>
      </p:sp>
      <p:sp>
        <p:nvSpPr>
          <p:cNvPr id="12" name="Shape 10"/>
          <p:cNvSpPr/>
          <p:nvPr/>
        </p:nvSpPr>
        <p:spPr>
          <a:xfrm>
            <a:off x="365760" y="3072384"/>
            <a:ext cx="5029200" cy="548640"/>
          </a:xfrm>
          <a:prstGeom prst="rect">
            <a:avLst/>
          </a:prstGeom>
          <a:solidFill>
            <a:srgbClr val="EEF4F8"/>
          </a:solidFill>
          <a:ln w="6350">
            <a:solidFill>
              <a:srgbClr val="DDDDDD"/>
            </a:solidFill>
            <a:prstDash val="solid"/>
          </a:ln>
        </p:spPr>
      </p:sp>
      <p:sp>
        <p:nvSpPr>
          <p:cNvPr id="13" name="Text 11"/>
          <p:cNvSpPr/>
          <p:nvPr/>
        </p:nvSpPr>
        <p:spPr>
          <a:xfrm>
            <a:off x="502920" y="3090672"/>
            <a:ext cx="4754880" cy="512064"/>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No screening model →</a:t>
            </a:r>
            <a:r>
              <a:rPr lang="en-US" sz="1300" dirty="0">
                <a:solidFill>
                  <a:srgbClr val="2D3748"/>
                </a:solidFill>
                <a:latin typeface="Calibri" pitchFamily="34" charset="0"/>
                <a:ea typeface="Calibri" pitchFamily="34" charset="-122"/>
                <a:cs typeface="Calibri" pitchFamily="34" charset="-120"/>
              </a:rPr>
              <a:t>  both errors happen constantly at scale</a:t>
            </a:r>
            <a:endParaRPr lang="en-US" sz="1300" dirty="0"/>
          </a:p>
        </p:txBody>
      </p:sp>
      <p:sp>
        <p:nvSpPr>
          <p:cNvPr id="14" name="Shape 12"/>
          <p:cNvSpPr/>
          <p:nvPr/>
        </p:nvSpPr>
        <p:spPr>
          <a:xfrm>
            <a:off x="5577840" y="1051560"/>
            <a:ext cx="3246120" cy="3611880"/>
          </a:xfrm>
          <a:prstGeom prst="rect">
            <a:avLst/>
          </a:prstGeom>
          <a:solidFill>
            <a:srgbClr val="EEF4F8"/>
          </a:solidFill>
          <a:ln w="6350">
            <a:solidFill>
              <a:srgbClr val="BBCFDB"/>
            </a:solidFill>
            <a:prstDash val="solid"/>
          </a:ln>
        </p:spPr>
      </p:sp>
      <p:sp>
        <p:nvSpPr>
          <p:cNvPr id="15" name="Text 13"/>
          <p:cNvSpPr/>
          <p:nvPr/>
        </p:nvSpPr>
        <p:spPr>
          <a:xfrm>
            <a:off x="5669280" y="1143000"/>
            <a:ext cx="3063240" cy="292608"/>
          </a:xfrm>
          <a:prstGeom prst="rect">
            <a:avLst/>
          </a:prstGeom>
          <a:noFill/>
          <a:ln/>
        </p:spPr>
        <p:txBody>
          <a:bodyPr wrap="square" rtlCol="0" anchor="ctr"/>
          <a:lstStyle/>
          <a:p>
            <a:pPr marL="0" indent="0">
              <a:buNone/>
            </a:pPr>
            <a:r>
              <a:rPr lang="en-US" sz="1100" b="1" kern="0" spc="200" dirty="0">
                <a:solidFill>
                  <a:srgbClr val="065A82"/>
                </a:solidFill>
                <a:latin typeface="Calibri" pitchFamily="34" charset="0"/>
                <a:ea typeface="Calibri" pitchFamily="34" charset="-122"/>
                <a:cs typeface="Calibri" pitchFamily="34" charset="-120"/>
              </a:rPr>
              <a:t>PROJECT GOALS</a:t>
            </a:r>
            <a:endParaRPr lang="en-US" sz="1100" dirty="0"/>
          </a:p>
        </p:txBody>
      </p:sp>
      <p:sp>
        <p:nvSpPr>
          <p:cNvPr id="16" name="Text 14"/>
          <p:cNvSpPr/>
          <p:nvPr/>
        </p:nvSpPr>
        <p:spPr>
          <a:xfrm>
            <a:off x="5669280" y="1481328"/>
            <a:ext cx="3063240" cy="502920"/>
          </a:xfrm>
          <a:prstGeom prst="rect">
            <a:avLst/>
          </a:prstGeom>
          <a:noFill/>
          <a:ln/>
        </p:spPr>
        <p:txBody>
          <a:bodyPr wrap="square" rtlCol="0" anchor="t"/>
          <a:lstStyle/>
          <a:p>
            <a:pPr marL="0" indent="0">
              <a:buNone/>
            </a:pPr>
            <a:r>
              <a:rPr lang="en-US" sz="1200" dirty="0">
                <a:solidFill>
                  <a:srgbClr val="2D3748"/>
                </a:solidFill>
                <a:latin typeface="Calibri" pitchFamily="34" charset="0"/>
                <a:ea typeface="Calibri" pitchFamily="34" charset="-122"/>
                <a:cs typeface="Calibri" pitchFamily="34" charset="-120"/>
              </a:rPr>
              <a:t>1. Data quality validation &amp; cleaning</a:t>
            </a:r>
            <a:endParaRPr lang="en-US" sz="1200" dirty="0"/>
          </a:p>
        </p:txBody>
      </p:sp>
      <p:sp>
        <p:nvSpPr>
          <p:cNvPr id="17" name="Text 15"/>
          <p:cNvSpPr/>
          <p:nvPr/>
        </p:nvSpPr>
        <p:spPr>
          <a:xfrm>
            <a:off x="5669280" y="2048256"/>
            <a:ext cx="3063240" cy="502920"/>
          </a:xfrm>
          <a:prstGeom prst="rect">
            <a:avLst/>
          </a:prstGeom>
          <a:noFill/>
          <a:ln/>
        </p:spPr>
        <p:txBody>
          <a:bodyPr wrap="square" rtlCol="0" anchor="t"/>
          <a:lstStyle/>
          <a:p>
            <a:pPr marL="0" indent="0">
              <a:buNone/>
            </a:pPr>
            <a:r>
              <a:rPr lang="en-US" sz="1200" dirty="0">
                <a:solidFill>
                  <a:srgbClr val="2D3748"/>
                </a:solidFill>
                <a:latin typeface="Calibri" pitchFamily="34" charset="0"/>
                <a:ea typeface="Calibri" pitchFamily="34" charset="-122"/>
                <a:cs typeface="Calibri" pitchFamily="34" charset="-120"/>
              </a:rPr>
              <a:t>2. Risk factor correlation analysis</a:t>
            </a:r>
            <a:endParaRPr lang="en-US" sz="1200" dirty="0"/>
          </a:p>
        </p:txBody>
      </p:sp>
      <p:sp>
        <p:nvSpPr>
          <p:cNvPr id="18" name="Text 16"/>
          <p:cNvSpPr/>
          <p:nvPr/>
        </p:nvSpPr>
        <p:spPr>
          <a:xfrm>
            <a:off x="5669280" y="2615184"/>
            <a:ext cx="3063240" cy="502920"/>
          </a:xfrm>
          <a:prstGeom prst="rect">
            <a:avLst/>
          </a:prstGeom>
          <a:noFill/>
          <a:ln/>
        </p:spPr>
        <p:txBody>
          <a:bodyPr wrap="square" rtlCol="0" anchor="t"/>
          <a:lstStyle/>
          <a:p>
            <a:pPr marL="0" indent="0">
              <a:buNone/>
            </a:pPr>
            <a:r>
              <a:rPr lang="en-US" sz="1200" dirty="0">
                <a:solidFill>
                  <a:srgbClr val="2D3748"/>
                </a:solidFill>
                <a:latin typeface="Calibri" pitchFamily="34" charset="0"/>
                <a:ea typeface="Calibri" pitchFamily="34" charset="-122"/>
                <a:cs typeface="Calibri" pitchFamily="34" charset="-120"/>
              </a:rPr>
              <a:t>3. Loan purpose default profiling</a:t>
            </a:r>
            <a:endParaRPr lang="en-US" sz="1200" dirty="0"/>
          </a:p>
        </p:txBody>
      </p:sp>
      <p:sp>
        <p:nvSpPr>
          <p:cNvPr id="19" name="Text 17"/>
          <p:cNvSpPr/>
          <p:nvPr/>
        </p:nvSpPr>
        <p:spPr>
          <a:xfrm>
            <a:off x="5669280" y="3182112"/>
            <a:ext cx="3063240" cy="502920"/>
          </a:xfrm>
          <a:prstGeom prst="rect">
            <a:avLst/>
          </a:prstGeom>
          <a:noFill/>
          <a:ln/>
        </p:spPr>
        <p:txBody>
          <a:bodyPr wrap="square" rtlCol="0" anchor="t"/>
          <a:lstStyle/>
          <a:p>
            <a:pPr marL="0" indent="0">
              <a:buNone/>
            </a:pPr>
            <a:r>
              <a:rPr lang="en-US" sz="1200" dirty="0">
                <a:solidFill>
                  <a:srgbClr val="2D3748"/>
                </a:solidFill>
                <a:latin typeface="Calibri" pitchFamily="34" charset="0"/>
                <a:ea typeface="Calibri" pitchFamily="34" charset="-122"/>
                <a:cs typeface="Calibri" pitchFamily="34" charset="-120"/>
              </a:rPr>
              <a:t>4. Predictive model for default risk</a:t>
            </a:r>
            <a:endParaRPr lang="en-US" sz="1200" dirty="0"/>
          </a:p>
        </p:txBody>
      </p:sp>
      <p:sp>
        <p:nvSpPr>
          <p:cNvPr id="20" name="Text 18"/>
          <p:cNvSpPr/>
          <p:nvPr/>
        </p:nvSpPr>
        <p:spPr>
          <a:xfrm>
            <a:off x="5669280" y="3749040"/>
            <a:ext cx="3063240" cy="502920"/>
          </a:xfrm>
          <a:prstGeom prst="rect">
            <a:avLst/>
          </a:prstGeom>
          <a:noFill/>
          <a:ln/>
        </p:spPr>
        <p:txBody>
          <a:bodyPr wrap="square" rtlCol="0" anchor="t"/>
          <a:lstStyle/>
          <a:p>
            <a:pPr marL="0" indent="0">
              <a:buNone/>
            </a:pPr>
            <a:r>
              <a:rPr lang="en-US" sz="1200" dirty="0">
                <a:solidFill>
                  <a:srgbClr val="2D3748"/>
                </a:solidFill>
                <a:latin typeface="Calibri" pitchFamily="34" charset="0"/>
                <a:ea typeface="Calibri" pitchFamily="34" charset="-122"/>
                <a:cs typeface="Calibri" pitchFamily="34" charset="-120"/>
              </a:rPr>
              <a:t>5. Actionable lending recommendations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5A82"/>
          </a:solidFill>
          <a:ln w="12700">
            <a:solidFill>
              <a:srgbClr val="065A82"/>
            </a:solidFill>
            <a:prstDash val="solid"/>
          </a:ln>
        </p:spPr>
      </p:sp>
      <p:sp>
        <p:nvSpPr>
          <p:cNvPr id="3" name="Text 1"/>
          <p:cNvSpPr/>
          <p:nvPr/>
        </p:nvSpPr>
        <p:spPr>
          <a:xfrm>
            <a:off x="365760" y="73152"/>
            <a:ext cx="841248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The Dataset</a:t>
            </a:r>
            <a:endParaRPr lang="en-US" sz="2400" dirty="0"/>
          </a:p>
        </p:txBody>
      </p:sp>
      <p:sp>
        <p:nvSpPr>
          <p:cNvPr id="4" name="Text 2"/>
          <p:cNvSpPr/>
          <p:nvPr/>
        </p:nvSpPr>
        <p:spPr>
          <a:xfrm>
            <a:off x="365760" y="566928"/>
            <a:ext cx="8412480" cy="329184"/>
          </a:xfrm>
          <a:prstGeom prst="rect">
            <a:avLst/>
          </a:prstGeom>
          <a:noFill/>
          <a:ln/>
        </p:spPr>
        <p:txBody>
          <a:bodyPr wrap="square" rtlCol="0" anchor="ctr"/>
          <a:lstStyle/>
          <a:p>
            <a:pPr marL="0" indent="0">
              <a:buNone/>
            </a:pPr>
            <a:r>
              <a:rPr lang="en-US" sz="1200" i="1" dirty="0">
                <a:solidFill>
                  <a:srgbClr val="A8D4E8"/>
                </a:solidFill>
                <a:latin typeface="Calibri" pitchFamily="34" charset="0"/>
                <a:ea typeface="Calibri" pitchFamily="34" charset="-122"/>
                <a:cs typeface="Calibri" pitchFamily="34" charset="-120"/>
              </a:rPr>
              <a:t>LendingClub Loan Data — Kaggle Imbalance Dataset</a:t>
            </a:r>
            <a:endParaRPr lang="en-US" sz="1200" dirty="0"/>
          </a:p>
        </p:txBody>
      </p:sp>
      <p:sp>
        <p:nvSpPr>
          <p:cNvPr id="5" name="Shape 3"/>
          <p:cNvSpPr/>
          <p:nvPr/>
        </p:nvSpPr>
        <p:spPr>
          <a:xfrm>
            <a:off x="0" y="4892040"/>
            <a:ext cx="9144000" cy="251460"/>
          </a:xfrm>
          <a:prstGeom prst="rect">
            <a:avLst/>
          </a:prstGeom>
          <a:solidFill>
            <a:srgbClr val="EEF4F8"/>
          </a:solidFill>
          <a:ln w="12700">
            <a:solidFill>
              <a:srgbClr val="EEF4F8"/>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Kevin Sayavong  |  Data Analytics Capstone  |  LendingClub Loan Default Analysis</a:t>
            </a:r>
            <a:endParaRPr lang="en-US" sz="900" dirty="0"/>
          </a:p>
        </p:txBody>
      </p:sp>
      <p:sp>
        <p:nvSpPr>
          <p:cNvPr id="7" name="Shape 5"/>
          <p:cNvSpPr/>
          <p:nvPr/>
        </p:nvSpPr>
        <p:spPr>
          <a:xfrm>
            <a:off x="274320" y="1030045"/>
            <a:ext cx="1920240" cy="1188720"/>
          </a:xfrm>
          <a:prstGeom prst="rect">
            <a:avLst/>
          </a:prstGeom>
          <a:solidFill>
            <a:srgbClr val="065A82"/>
          </a:solidFill>
          <a:ln/>
          <a:effectLst>
            <a:outerShdw blurRad="101600" dist="25400" dir="8100000" algn="bl" rotWithShape="0">
              <a:srgbClr val="000000">
                <a:alpha val="10000"/>
              </a:srgbClr>
            </a:outerShdw>
          </a:effectLst>
        </p:spPr>
      </p:sp>
      <p:sp>
        <p:nvSpPr>
          <p:cNvPr id="8" name="Text 6"/>
          <p:cNvSpPr/>
          <p:nvPr/>
        </p:nvSpPr>
        <p:spPr>
          <a:xfrm>
            <a:off x="274320" y="1121485"/>
            <a:ext cx="1920240" cy="653796"/>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9,578</a:t>
            </a:r>
            <a:endParaRPr lang="en-US" sz="2600" dirty="0"/>
          </a:p>
        </p:txBody>
      </p:sp>
      <p:sp>
        <p:nvSpPr>
          <p:cNvPr id="9" name="Text 7"/>
          <p:cNvSpPr/>
          <p:nvPr/>
        </p:nvSpPr>
        <p:spPr>
          <a:xfrm>
            <a:off x="274320" y="1719503"/>
            <a:ext cx="1920240" cy="451714"/>
          </a:xfrm>
          <a:prstGeom prst="rect">
            <a:avLst/>
          </a:prstGeom>
          <a:noFill/>
          <a:ln/>
        </p:spPr>
        <p:txBody>
          <a:bodyPr wrap="square" rtlCol="0" anchor="t"/>
          <a:lstStyle/>
          <a:p>
            <a:pPr marL="0" indent="0" algn="ctr">
              <a:buNone/>
            </a:pPr>
            <a:r>
              <a:rPr lang="en-US" sz="1000" dirty="0">
                <a:solidFill>
                  <a:srgbClr val="CCE8F4"/>
                </a:solidFill>
                <a:latin typeface="Calibri" pitchFamily="34" charset="0"/>
                <a:ea typeface="Calibri" pitchFamily="34" charset="-122"/>
                <a:cs typeface="Calibri" pitchFamily="34" charset="-120"/>
              </a:rPr>
              <a:t>Total Loan Records</a:t>
            </a:r>
            <a:endParaRPr lang="en-US" sz="1000" dirty="0"/>
          </a:p>
        </p:txBody>
      </p:sp>
      <p:sp>
        <p:nvSpPr>
          <p:cNvPr id="10" name="Shape 8"/>
          <p:cNvSpPr/>
          <p:nvPr/>
        </p:nvSpPr>
        <p:spPr>
          <a:xfrm>
            <a:off x="2450592" y="1030045"/>
            <a:ext cx="1920240" cy="1188720"/>
          </a:xfrm>
          <a:prstGeom prst="rect">
            <a:avLst/>
          </a:prstGeom>
          <a:solidFill>
            <a:srgbClr val="1C7293"/>
          </a:solidFill>
          <a:ln/>
          <a:effectLst>
            <a:outerShdw blurRad="101600" dist="25400" dir="8100000" algn="bl" rotWithShape="0">
              <a:srgbClr val="000000">
                <a:alpha val="10000"/>
              </a:srgbClr>
            </a:outerShdw>
          </a:effectLst>
        </p:spPr>
      </p:sp>
      <p:sp>
        <p:nvSpPr>
          <p:cNvPr id="11" name="Text 9"/>
          <p:cNvSpPr/>
          <p:nvPr/>
        </p:nvSpPr>
        <p:spPr>
          <a:xfrm>
            <a:off x="2450592" y="1121485"/>
            <a:ext cx="1920240" cy="653796"/>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22</a:t>
            </a:r>
            <a:endParaRPr lang="en-US" sz="2600" dirty="0"/>
          </a:p>
        </p:txBody>
      </p:sp>
      <p:sp>
        <p:nvSpPr>
          <p:cNvPr id="12" name="Text 10"/>
          <p:cNvSpPr/>
          <p:nvPr/>
        </p:nvSpPr>
        <p:spPr>
          <a:xfrm>
            <a:off x="2450592" y="1719503"/>
            <a:ext cx="1920240" cy="451714"/>
          </a:xfrm>
          <a:prstGeom prst="rect">
            <a:avLst/>
          </a:prstGeom>
          <a:noFill/>
          <a:ln/>
        </p:spPr>
        <p:txBody>
          <a:bodyPr wrap="square" rtlCol="0" anchor="t"/>
          <a:lstStyle/>
          <a:p>
            <a:pPr marL="0" indent="0" algn="ctr">
              <a:buNone/>
            </a:pPr>
            <a:r>
              <a:rPr lang="en-US" sz="1000" dirty="0">
                <a:solidFill>
                  <a:srgbClr val="CCE8F4"/>
                </a:solidFill>
                <a:latin typeface="Calibri" pitchFamily="34" charset="0"/>
                <a:ea typeface="Calibri" pitchFamily="34" charset="-122"/>
                <a:cs typeface="Calibri" pitchFamily="34" charset="-120"/>
              </a:rPr>
              <a:t>Variables (after engineering)</a:t>
            </a:r>
            <a:endParaRPr lang="en-US" sz="1000" dirty="0"/>
          </a:p>
        </p:txBody>
      </p:sp>
      <p:sp>
        <p:nvSpPr>
          <p:cNvPr id="13" name="Shape 11"/>
          <p:cNvSpPr/>
          <p:nvPr/>
        </p:nvSpPr>
        <p:spPr>
          <a:xfrm>
            <a:off x="4626864" y="1030045"/>
            <a:ext cx="1920240" cy="1188720"/>
          </a:xfrm>
          <a:prstGeom prst="rect">
            <a:avLst/>
          </a:prstGeom>
          <a:solidFill>
            <a:srgbClr val="2E7D32"/>
          </a:solidFill>
          <a:ln/>
          <a:effectLst>
            <a:outerShdw blurRad="101600" dist="25400" dir="8100000" algn="bl" rotWithShape="0">
              <a:srgbClr val="000000">
                <a:alpha val="10000"/>
              </a:srgbClr>
            </a:outerShdw>
          </a:effectLst>
        </p:spPr>
      </p:sp>
      <p:sp>
        <p:nvSpPr>
          <p:cNvPr id="14" name="Text 12"/>
          <p:cNvSpPr/>
          <p:nvPr/>
        </p:nvSpPr>
        <p:spPr>
          <a:xfrm>
            <a:off x="4626864" y="1121485"/>
            <a:ext cx="1920240" cy="653796"/>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0</a:t>
            </a:r>
            <a:endParaRPr lang="en-US" sz="2600" dirty="0"/>
          </a:p>
        </p:txBody>
      </p:sp>
      <p:sp>
        <p:nvSpPr>
          <p:cNvPr id="15" name="Text 13"/>
          <p:cNvSpPr/>
          <p:nvPr/>
        </p:nvSpPr>
        <p:spPr>
          <a:xfrm>
            <a:off x="4626864" y="1719503"/>
            <a:ext cx="1920240" cy="451714"/>
          </a:xfrm>
          <a:prstGeom prst="rect">
            <a:avLst/>
          </a:prstGeom>
          <a:noFill/>
          <a:ln/>
        </p:spPr>
        <p:txBody>
          <a:bodyPr wrap="square" rtlCol="0" anchor="t"/>
          <a:lstStyle/>
          <a:p>
            <a:pPr marL="0" indent="0" algn="ctr">
              <a:buNone/>
            </a:pPr>
            <a:r>
              <a:rPr lang="en-US" sz="1000" dirty="0">
                <a:solidFill>
                  <a:srgbClr val="CCE8F4"/>
                </a:solidFill>
                <a:latin typeface="Calibri" pitchFamily="34" charset="0"/>
                <a:ea typeface="Calibri" pitchFamily="34" charset="-122"/>
                <a:cs typeface="Calibri" pitchFamily="34" charset="-120"/>
              </a:rPr>
              <a:t>Missing Values</a:t>
            </a:r>
            <a:endParaRPr lang="en-US" sz="1000" dirty="0"/>
          </a:p>
        </p:txBody>
      </p:sp>
      <p:sp>
        <p:nvSpPr>
          <p:cNvPr id="16" name="Shape 14"/>
          <p:cNvSpPr/>
          <p:nvPr/>
        </p:nvSpPr>
        <p:spPr>
          <a:xfrm>
            <a:off x="6803136" y="1030045"/>
            <a:ext cx="1920240" cy="1188720"/>
          </a:xfrm>
          <a:prstGeom prst="rect">
            <a:avLst/>
          </a:prstGeom>
          <a:solidFill>
            <a:srgbClr val="B85042"/>
          </a:solidFill>
          <a:ln/>
          <a:effectLst>
            <a:outerShdw blurRad="101600" dist="25400" dir="8100000" algn="bl" rotWithShape="0">
              <a:srgbClr val="000000">
                <a:alpha val="10000"/>
              </a:srgbClr>
            </a:outerShdw>
          </a:effectLst>
        </p:spPr>
      </p:sp>
      <p:sp>
        <p:nvSpPr>
          <p:cNvPr id="17" name="Text 15"/>
          <p:cNvSpPr/>
          <p:nvPr/>
        </p:nvSpPr>
        <p:spPr>
          <a:xfrm>
            <a:off x="6803136" y="1121485"/>
            <a:ext cx="1920240" cy="653796"/>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16%</a:t>
            </a:r>
            <a:endParaRPr lang="en-US" sz="2600" dirty="0"/>
          </a:p>
        </p:txBody>
      </p:sp>
      <p:sp>
        <p:nvSpPr>
          <p:cNvPr id="18" name="Text 16"/>
          <p:cNvSpPr/>
          <p:nvPr/>
        </p:nvSpPr>
        <p:spPr>
          <a:xfrm>
            <a:off x="6803136" y="1719503"/>
            <a:ext cx="1920240" cy="451714"/>
          </a:xfrm>
          <a:prstGeom prst="rect">
            <a:avLst/>
          </a:prstGeom>
          <a:noFill/>
          <a:ln/>
        </p:spPr>
        <p:txBody>
          <a:bodyPr wrap="square" rtlCol="0" anchor="t"/>
          <a:lstStyle/>
          <a:p>
            <a:pPr marL="0" indent="0" algn="ctr">
              <a:buNone/>
            </a:pPr>
            <a:r>
              <a:rPr lang="en-US" sz="1000" dirty="0">
                <a:solidFill>
                  <a:srgbClr val="CCE8F4"/>
                </a:solidFill>
                <a:latin typeface="Calibri" pitchFamily="34" charset="0"/>
                <a:ea typeface="Calibri" pitchFamily="34" charset="-122"/>
                <a:cs typeface="Calibri" pitchFamily="34" charset="-120"/>
              </a:rPr>
              <a:t>Overall Default Rate</a:t>
            </a:r>
            <a:endParaRPr lang="en-US" sz="1000" dirty="0"/>
          </a:p>
        </p:txBody>
      </p:sp>
      <p:sp>
        <p:nvSpPr>
          <p:cNvPr id="19" name="Text 17"/>
          <p:cNvSpPr/>
          <p:nvPr/>
        </p:nvSpPr>
        <p:spPr>
          <a:xfrm>
            <a:off x="328781" y="2226833"/>
            <a:ext cx="2743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Key Variables</a:t>
            </a:r>
            <a:endParaRPr lang="en-US" sz="1300" dirty="0"/>
          </a:p>
        </p:txBody>
      </p:sp>
      <p:sp>
        <p:nvSpPr>
          <p:cNvPr id="20" name="Shape 18"/>
          <p:cNvSpPr/>
          <p:nvPr/>
        </p:nvSpPr>
        <p:spPr>
          <a:xfrm>
            <a:off x="237341" y="2507070"/>
            <a:ext cx="4251960" cy="301752"/>
          </a:xfrm>
          <a:prstGeom prst="rect">
            <a:avLst/>
          </a:prstGeom>
          <a:solidFill>
            <a:srgbClr val="065A82"/>
          </a:solidFill>
          <a:ln w="6350">
            <a:solidFill>
              <a:srgbClr val="DDDDDD"/>
            </a:solidFill>
            <a:prstDash val="solid"/>
          </a:ln>
        </p:spPr>
      </p:sp>
      <p:sp>
        <p:nvSpPr>
          <p:cNvPr id="21" name="Text 19"/>
          <p:cNvSpPr/>
          <p:nvPr/>
        </p:nvSpPr>
        <p:spPr>
          <a:xfrm>
            <a:off x="283061" y="2507070"/>
            <a:ext cx="4160520" cy="30175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p>
        </p:txBody>
      </p:sp>
      <p:sp>
        <p:nvSpPr>
          <p:cNvPr id="22" name="Shape 20"/>
          <p:cNvSpPr/>
          <p:nvPr/>
        </p:nvSpPr>
        <p:spPr>
          <a:xfrm>
            <a:off x="4535021" y="2507070"/>
            <a:ext cx="4251960" cy="301752"/>
          </a:xfrm>
          <a:prstGeom prst="rect">
            <a:avLst/>
          </a:prstGeom>
          <a:solidFill>
            <a:srgbClr val="065A82"/>
          </a:solidFill>
          <a:ln w="6350">
            <a:solidFill>
              <a:srgbClr val="DDDDDD"/>
            </a:solidFill>
            <a:prstDash val="solid"/>
          </a:ln>
        </p:spPr>
      </p:sp>
      <p:sp>
        <p:nvSpPr>
          <p:cNvPr id="23" name="Text 21"/>
          <p:cNvSpPr/>
          <p:nvPr/>
        </p:nvSpPr>
        <p:spPr>
          <a:xfrm>
            <a:off x="4580741" y="2507070"/>
            <a:ext cx="4160520" cy="30175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p>
        </p:txBody>
      </p:sp>
      <p:sp>
        <p:nvSpPr>
          <p:cNvPr id="24" name="Shape 22"/>
          <p:cNvSpPr/>
          <p:nvPr/>
        </p:nvSpPr>
        <p:spPr>
          <a:xfrm>
            <a:off x="237341" y="2817966"/>
            <a:ext cx="4251960" cy="301752"/>
          </a:xfrm>
          <a:prstGeom prst="rect">
            <a:avLst/>
          </a:prstGeom>
          <a:solidFill>
            <a:srgbClr val="FFFFFF"/>
          </a:solidFill>
          <a:ln w="6350">
            <a:solidFill>
              <a:srgbClr val="DDDDDD"/>
            </a:solidFill>
            <a:prstDash val="solid"/>
          </a:ln>
        </p:spPr>
      </p:sp>
      <p:sp>
        <p:nvSpPr>
          <p:cNvPr id="25" name="Text 23"/>
          <p:cNvSpPr/>
          <p:nvPr/>
        </p:nvSpPr>
        <p:spPr>
          <a:xfrm>
            <a:off x="283061" y="2817966"/>
            <a:ext cx="4160520" cy="30175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FICO Score</a:t>
            </a:r>
            <a:endParaRPr lang="en-US" sz="1100" dirty="0"/>
          </a:p>
        </p:txBody>
      </p:sp>
      <p:sp>
        <p:nvSpPr>
          <p:cNvPr id="26" name="Shape 24"/>
          <p:cNvSpPr/>
          <p:nvPr/>
        </p:nvSpPr>
        <p:spPr>
          <a:xfrm>
            <a:off x="4535021" y="2817966"/>
            <a:ext cx="4251960" cy="301752"/>
          </a:xfrm>
          <a:prstGeom prst="rect">
            <a:avLst/>
          </a:prstGeom>
          <a:solidFill>
            <a:srgbClr val="FFFFFF"/>
          </a:solidFill>
          <a:ln w="6350">
            <a:solidFill>
              <a:srgbClr val="DDDDDD"/>
            </a:solidFill>
            <a:prstDash val="solid"/>
          </a:ln>
        </p:spPr>
      </p:sp>
      <p:sp>
        <p:nvSpPr>
          <p:cNvPr id="27" name="Text 25"/>
          <p:cNvSpPr/>
          <p:nvPr/>
        </p:nvSpPr>
        <p:spPr>
          <a:xfrm>
            <a:off x="4580741" y="2817966"/>
            <a:ext cx="4160520" cy="30175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Borrower credit score (612–827)</a:t>
            </a:r>
            <a:endParaRPr lang="en-US" sz="1100" dirty="0"/>
          </a:p>
        </p:txBody>
      </p:sp>
      <p:sp>
        <p:nvSpPr>
          <p:cNvPr id="28" name="Shape 26"/>
          <p:cNvSpPr/>
          <p:nvPr/>
        </p:nvSpPr>
        <p:spPr>
          <a:xfrm>
            <a:off x="237341" y="3128862"/>
            <a:ext cx="4251960" cy="301752"/>
          </a:xfrm>
          <a:prstGeom prst="rect">
            <a:avLst/>
          </a:prstGeom>
          <a:solidFill>
            <a:srgbClr val="F0F6FA"/>
          </a:solidFill>
          <a:ln w="6350">
            <a:solidFill>
              <a:srgbClr val="DDDDDD"/>
            </a:solidFill>
            <a:prstDash val="solid"/>
          </a:ln>
        </p:spPr>
      </p:sp>
      <p:sp>
        <p:nvSpPr>
          <p:cNvPr id="29" name="Text 27"/>
          <p:cNvSpPr/>
          <p:nvPr/>
        </p:nvSpPr>
        <p:spPr>
          <a:xfrm>
            <a:off x="283061" y="3128862"/>
            <a:ext cx="4160520" cy="30175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Interest Rate</a:t>
            </a:r>
            <a:endParaRPr lang="en-US" sz="1100" dirty="0"/>
          </a:p>
        </p:txBody>
      </p:sp>
      <p:sp>
        <p:nvSpPr>
          <p:cNvPr id="30" name="Shape 28"/>
          <p:cNvSpPr/>
          <p:nvPr/>
        </p:nvSpPr>
        <p:spPr>
          <a:xfrm>
            <a:off x="4535021" y="3128862"/>
            <a:ext cx="4251960" cy="301752"/>
          </a:xfrm>
          <a:prstGeom prst="rect">
            <a:avLst/>
          </a:prstGeom>
          <a:solidFill>
            <a:srgbClr val="F0F6FA"/>
          </a:solidFill>
          <a:ln w="6350">
            <a:solidFill>
              <a:srgbClr val="DDDDDD"/>
            </a:solidFill>
            <a:prstDash val="solid"/>
          </a:ln>
        </p:spPr>
      </p:sp>
      <p:sp>
        <p:nvSpPr>
          <p:cNvPr id="31" name="Text 29"/>
          <p:cNvSpPr/>
          <p:nvPr/>
        </p:nvSpPr>
        <p:spPr>
          <a:xfrm>
            <a:off x="4580741" y="3128862"/>
            <a:ext cx="4160520" cy="30175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Rate assigned by LendingClub</a:t>
            </a:r>
            <a:endParaRPr lang="en-US" sz="1100" dirty="0"/>
          </a:p>
        </p:txBody>
      </p:sp>
      <p:sp>
        <p:nvSpPr>
          <p:cNvPr id="32" name="Shape 30"/>
          <p:cNvSpPr/>
          <p:nvPr/>
        </p:nvSpPr>
        <p:spPr>
          <a:xfrm>
            <a:off x="237341" y="3439758"/>
            <a:ext cx="4251960" cy="301752"/>
          </a:xfrm>
          <a:prstGeom prst="rect">
            <a:avLst/>
          </a:prstGeom>
          <a:solidFill>
            <a:schemeClr val="bg1"/>
          </a:solidFill>
          <a:ln w="6350">
            <a:solidFill>
              <a:srgbClr val="DDDDDD"/>
            </a:solidFill>
            <a:prstDash val="solid"/>
          </a:ln>
        </p:spPr>
      </p:sp>
      <p:sp>
        <p:nvSpPr>
          <p:cNvPr id="33" name="Text 31"/>
          <p:cNvSpPr/>
          <p:nvPr/>
        </p:nvSpPr>
        <p:spPr>
          <a:xfrm>
            <a:off x="283061" y="3439758"/>
            <a:ext cx="4160520" cy="301752"/>
          </a:xfrm>
          <a:prstGeom prst="rect">
            <a:avLst/>
          </a:prstGeom>
          <a:noFill/>
          <a:ln/>
        </p:spPr>
        <p:txBody>
          <a:bodyPr wrap="square" lIns="91440" tIns="45720" rIns="91440" bIns="45720" rtlCol="0" anchor="ctr"/>
          <a:lstStyle/>
          <a:p>
            <a:pPr marL="0" indent="0">
              <a:buNone/>
            </a:pPr>
            <a:r>
              <a:rPr lang="en-US" sz="1100">
                <a:solidFill>
                  <a:schemeClr val="tx1">
                    <a:lumMod val="85000"/>
                    <a:lumOff val="15000"/>
                  </a:schemeClr>
                </a:solidFill>
                <a:latin typeface="Calibri"/>
                <a:ea typeface="Calibri"/>
                <a:cs typeface="Calibri"/>
              </a:rPr>
              <a:t>Installment as Percent of Income*</a:t>
            </a:r>
          </a:p>
        </p:txBody>
      </p:sp>
      <p:sp>
        <p:nvSpPr>
          <p:cNvPr id="34" name="Shape 32"/>
          <p:cNvSpPr/>
          <p:nvPr/>
        </p:nvSpPr>
        <p:spPr>
          <a:xfrm>
            <a:off x="4535021" y="3439758"/>
            <a:ext cx="4251960" cy="301752"/>
          </a:xfrm>
          <a:prstGeom prst="rect">
            <a:avLst/>
          </a:prstGeom>
          <a:solidFill>
            <a:schemeClr val="bg1"/>
          </a:solidFill>
          <a:ln w="6350">
            <a:solidFill>
              <a:srgbClr val="DDDDDD"/>
            </a:solidFill>
            <a:prstDash val="solid"/>
          </a:ln>
        </p:spPr>
      </p:sp>
      <p:sp>
        <p:nvSpPr>
          <p:cNvPr id="35" name="Text 33"/>
          <p:cNvSpPr/>
          <p:nvPr/>
        </p:nvSpPr>
        <p:spPr>
          <a:xfrm>
            <a:off x="4580741" y="3439758"/>
            <a:ext cx="4160520" cy="301752"/>
          </a:xfrm>
          <a:prstGeom prst="rect">
            <a:avLst/>
          </a:prstGeom>
          <a:noFill/>
          <a:ln/>
        </p:spPr>
        <p:txBody>
          <a:bodyPr wrap="square" lIns="91440" tIns="45720" rIns="91440" bIns="45720" rtlCol="0" anchor="ctr"/>
          <a:lstStyle/>
          <a:p>
            <a:r>
              <a:rPr lang="en-US" sz="1100">
                <a:solidFill>
                  <a:schemeClr val="tx1">
                    <a:lumMod val="85000"/>
                    <a:lumOff val="15000"/>
                  </a:schemeClr>
                </a:solidFill>
                <a:latin typeface="Calibri"/>
                <a:ea typeface="Calibri"/>
                <a:cs typeface="Calibri"/>
              </a:rPr>
              <a:t>Payment ÷ Monthly income</a:t>
            </a:r>
            <a:endParaRPr lang="en-US" sz="1100" dirty="0">
              <a:solidFill>
                <a:schemeClr val="tx1">
                  <a:lumMod val="85000"/>
                  <a:lumOff val="15000"/>
                </a:schemeClr>
              </a:solidFill>
              <a:latin typeface="Calibri"/>
              <a:ea typeface="Calibri"/>
              <a:cs typeface="Calibri"/>
            </a:endParaRPr>
          </a:p>
        </p:txBody>
      </p:sp>
      <p:sp>
        <p:nvSpPr>
          <p:cNvPr id="36" name="Shape 34"/>
          <p:cNvSpPr/>
          <p:nvPr/>
        </p:nvSpPr>
        <p:spPr>
          <a:xfrm>
            <a:off x="237341" y="3750654"/>
            <a:ext cx="4251960" cy="301752"/>
          </a:xfrm>
          <a:prstGeom prst="rect">
            <a:avLst/>
          </a:prstGeom>
          <a:solidFill>
            <a:srgbClr val="F0F6FA"/>
          </a:solidFill>
          <a:ln w="6350">
            <a:solidFill>
              <a:srgbClr val="DDDDDD"/>
            </a:solidFill>
            <a:prstDash val="solid"/>
          </a:ln>
        </p:spPr>
      </p:sp>
      <p:sp>
        <p:nvSpPr>
          <p:cNvPr id="37" name="Text 35"/>
          <p:cNvSpPr/>
          <p:nvPr/>
        </p:nvSpPr>
        <p:spPr>
          <a:xfrm>
            <a:off x="283061" y="3750654"/>
            <a:ext cx="4160520" cy="30175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Debt-to-Income Ratio</a:t>
            </a:r>
            <a:endParaRPr lang="en-US" sz="1100" dirty="0"/>
          </a:p>
        </p:txBody>
      </p:sp>
      <p:sp>
        <p:nvSpPr>
          <p:cNvPr id="38" name="Shape 36"/>
          <p:cNvSpPr/>
          <p:nvPr/>
        </p:nvSpPr>
        <p:spPr>
          <a:xfrm>
            <a:off x="4535021" y="3750654"/>
            <a:ext cx="4251960" cy="301752"/>
          </a:xfrm>
          <a:prstGeom prst="rect">
            <a:avLst/>
          </a:prstGeom>
          <a:solidFill>
            <a:srgbClr val="F0F6FA"/>
          </a:solidFill>
          <a:ln w="6350">
            <a:solidFill>
              <a:srgbClr val="DDDDDD"/>
            </a:solidFill>
            <a:prstDash val="solid"/>
          </a:ln>
        </p:spPr>
      </p:sp>
      <p:sp>
        <p:nvSpPr>
          <p:cNvPr id="39" name="Text 37"/>
          <p:cNvSpPr/>
          <p:nvPr/>
        </p:nvSpPr>
        <p:spPr>
          <a:xfrm>
            <a:off x="4580741" y="3750654"/>
            <a:ext cx="4160520" cy="30175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Existing debt vs. income</a:t>
            </a:r>
            <a:endParaRPr lang="en-US" sz="1100" dirty="0"/>
          </a:p>
        </p:txBody>
      </p:sp>
      <p:sp>
        <p:nvSpPr>
          <p:cNvPr id="40" name="Shape 38"/>
          <p:cNvSpPr/>
          <p:nvPr/>
        </p:nvSpPr>
        <p:spPr>
          <a:xfrm>
            <a:off x="237341" y="4061550"/>
            <a:ext cx="4251960" cy="301752"/>
          </a:xfrm>
          <a:prstGeom prst="rect">
            <a:avLst/>
          </a:prstGeom>
          <a:solidFill>
            <a:srgbClr val="FFFFFF"/>
          </a:solidFill>
          <a:ln w="6350">
            <a:solidFill>
              <a:srgbClr val="DDDDDD"/>
            </a:solidFill>
            <a:prstDash val="solid"/>
          </a:ln>
        </p:spPr>
      </p:sp>
      <p:sp>
        <p:nvSpPr>
          <p:cNvPr id="41" name="Text 39"/>
          <p:cNvSpPr/>
          <p:nvPr/>
        </p:nvSpPr>
        <p:spPr>
          <a:xfrm>
            <a:off x="283061" y="4061550"/>
            <a:ext cx="4160520" cy="30175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Loan Purpose</a:t>
            </a:r>
            <a:endParaRPr lang="en-US" sz="1100" dirty="0"/>
          </a:p>
        </p:txBody>
      </p:sp>
      <p:sp>
        <p:nvSpPr>
          <p:cNvPr id="42" name="Shape 40"/>
          <p:cNvSpPr/>
          <p:nvPr/>
        </p:nvSpPr>
        <p:spPr>
          <a:xfrm>
            <a:off x="4535021" y="4061550"/>
            <a:ext cx="4251960" cy="301752"/>
          </a:xfrm>
          <a:prstGeom prst="rect">
            <a:avLst/>
          </a:prstGeom>
          <a:solidFill>
            <a:srgbClr val="FFFFFF"/>
          </a:solidFill>
          <a:ln w="6350">
            <a:solidFill>
              <a:srgbClr val="DDDDDD"/>
            </a:solidFill>
            <a:prstDash val="solid"/>
          </a:ln>
        </p:spPr>
      </p:sp>
      <p:sp>
        <p:nvSpPr>
          <p:cNvPr id="43" name="Text 41"/>
          <p:cNvSpPr/>
          <p:nvPr/>
        </p:nvSpPr>
        <p:spPr>
          <a:xfrm>
            <a:off x="4580741" y="4061550"/>
            <a:ext cx="4160520" cy="30175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Reason for borrowing (8 categories)</a:t>
            </a:r>
            <a:endParaRPr lang="en-US" sz="1100" dirty="0"/>
          </a:p>
        </p:txBody>
      </p:sp>
      <p:sp>
        <p:nvSpPr>
          <p:cNvPr id="44" name="Shape 42"/>
          <p:cNvSpPr/>
          <p:nvPr/>
        </p:nvSpPr>
        <p:spPr>
          <a:xfrm>
            <a:off x="237341" y="4372446"/>
            <a:ext cx="4251960" cy="301752"/>
          </a:xfrm>
          <a:prstGeom prst="rect">
            <a:avLst/>
          </a:prstGeom>
          <a:solidFill>
            <a:schemeClr val="accent4">
              <a:lumMod val="20000"/>
              <a:lumOff val="80000"/>
            </a:schemeClr>
          </a:solidFill>
          <a:ln w="6350">
            <a:solidFill>
              <a:srgbClr val="DDDDDD"/>
            </a:solidFill>
            <a:prstDash val="solid"/>
          </a:ln>
        </p:spPr>
      </p:sp>
      <p:sp>
        <p:nvSpPr>
          <p:cNvPr id="45" name="Text 43"/>
          <p:cNvSpPr/>
          <p:nvPr/>
        </p:nvSpPr>
        <p:spPr>
          <a:xfrm>
            <a:off x="283061" y="4372446"/>
            <a:ext cx="4160520" cy="30175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Not Fully Paid</a:t>
            </a:r>
            <a:endParaRPr lang="en-US" sz="1100" dirty="0"/>
          </a:p>
        </p:txBody>
      </p:sp>
      <p:sp>
        <p:nvSpPr>
          <p:cNvPr id="46" name="Shape 44"/>
          <p:cNvSpPr/>
          <p:nvPr/>
        </p:nvSpPr>
        <p:spPr>
          <a:xfrm>
            <a:off x="4535021" y="4372446"/>
            <a:ext cx="4251960" cy="301752"/>
          </a:xfrm>
          <a:prstGeom prst="rect">
            <a:avLst/>
          </a:prstGeom>
          <a:solidFill>
            <a:schemeClr val="accent4">
              <a:lumMod val="20000"/>
              <a:lumOff val="80000"/>
            </a:schemeClr>
          </a:solidFill>
          <a:ln w="6350">
            <a:solidFill>
              <a:srgbClr val="DDDDDD"/>
            </a:solidFill>
            <a:prstDash val="solid"/>
          </a:ln>
        </p:spPr>
      </p:sp>
      <p:sp>
        <p:nvSpPr>
          <p:cNvPr id="47" name="Text 45"/>
          <p:cNvSpPr/>
          <p:nvPr/>
        </p:nvSpPr>
        <p:spPr>
          <a:xfrm>
            <a:off x="4580741" y="4372446"/>
            <a:ext cx="4160520" cy="301752"/>
          </a:xfrm>
          <a:prstGeom prst="rect">
            <a:avLst/>
          </a:prstGeom>
          <a:noFill/>
          <a:ln/>
        </p:spPr>
        <p:txBody>
          <a:bodyPr wrap="square" lIns="91440" tIns="45720" rIns="91440" bIns="45720" rtlCol="0" anchor="ctr"/>
          <a:lstStyle/>
          <a:p>
            <a:pPr marL="0" indent="0">
              <a:buNone/>
            </a:pPr>
            <a:r>
              <a:rPr lang="en-US" sz="1100">
                <a:solidFill>
                  <a:srgbClr val="2D3748"/>
                </a:solidFill>
                <a:latin typeface="Calibri"/>
                <a:ea typeface="Calibri"/>
                <a:cs typeface="Calibri"/>
              </a:rPr>
              <a:t>Target: Defaulted, Repaid</a:t>
            </a:r>
            <a:endParaRPr lang="en-US" sz="1100">
              <a:latin typeface="Calibri"/>
              <a:ea typeface="Calibri"/>
              <a:cs typeface="Calibri"/>
            </a:endParaRPr>
          </a:p>
        </p:txBody>
      </p:sp>
      <p:sp>
        <p:nvSpPr>
          <p:cNvPr id="48" name="Text 46"/>
          <p:cNvSpPr/>
          <p:nvPr/>
        </p:nvSpPr>
        <p:spPr>
          <a:xfrm>
            <a:off x="274320" y="4670836"/>
            <a:ext cx="6400800" cy="228600"/>
          </a:xfrm>
          <a:prstGeom prst="rect">
            <a:avLst/>
          </a:prstGeom>
          <a:noFill/>
          <a:ln/>
        </p:spPr>
        <p:txBody>
          <a:bodyPr wrap="square" rtlCol="0" anchor="ctr"/>
          <a:lstStyle/>
          <a:p>
            <a:pPr marL="0" indent="0">
              <a:buNone/>
            </a:pPr>
            <a:r>
              <a:rPr lang="en-US" sz="1000" i="1" dirty="0">
                <a:solidFill>
                  <a:srgbClr val="8B5E00"/>
                </a:solidFill>
                <a:latin typeface="Calibri" pitchFamily="34" charset="0"/>
                <a:ea typeface="Calibri" pitchFamily="34" charset="-122"/>
                <a:cs typeface="Calibri" pitchFamily="34" charset="-120"/>
              </a:rPr>
              <a:t>* = not in original dataset — engineered for this analysis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5A82"/>
          </a:solidFill>
          <a:ln w="12700">
            <a:solidFill>
              <a:srgbClr val="065A82"/>
            </a:solidFill>
            <a:prstDash val="solid"/>
          </a:ln>
        </p:spPr>
      </p:sp>
      <p:sp>
        <p:nvSpPr>
          <p:cNvPr id="3" name="Text 1"/>
          <p:cNvSpPr/>
          <p:nvPr/>
        </p:nvSpPr>
        <p:spPr>
          <a:xfrm>
            <a:off x="365760" y="73152"/>
            <a:ext cx="841248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Data Cleaning &amp; Feature Engineering</a:t>
            </a:r>
            <a:endParaRPr lang="en-US" sz="2400" dirty="0"/>
          </a:p>
        </p:txBody>
      </p:sp>
      <p:sp>
        <p:nvSpPr>
          <p:cNvPr id="4" name="Text 2"/>
          <p:cNvSpPr/>
          <p:nvPr/>
        </p:nvSpPr>
        <p:spPr>
          <a:xfrm>
            <a:off x="365760" y="566928"/>
            <a:ext cx="8412480" cy="329184"/>
          </a:xfrm>
          <a:prstGeom prst="rect">
            <a:avLst/>
          </a:prstGeom>
          <a:noFill/>
          <a:ln/>
        </p:spPr>
        <p:txBody>
          <a:bodyPr wrap="square" rtlCol="0" anchor="ctr"/>
          <a:lstStyle/>
          <a:p>
            <a:pPr marL="0" indent="0">
              <a:buNone/>
            </a:pPr>
            <a:r>
              <a:rPr lang="en-US" sz="1200" i="1" dirty="0">
                <a:solidFill>
                  <a:srgbClr val="A8D4E8"/>
                </a:solidFill>
                <a:latin typeface="Calibri" pitchFamily="34" charset="0"/>
                <a:ea typeface="Calibri" pitchFamily="34" charset="-122"/>
                <a:cs typeface="Calibri" pitchFamily="34" charset="-120"/>
              </a:rPr>
              <a:t>Turning raw CSV into analysis-ready data</a:t>
            </a:r>
            <a:endParaRPr lang="en-US" sz="1200" dirty="0"/>
          </a:p>
        </p:txBody>
      </p:sp>
      <p:sp>
        <p:nvSpPr>
          <p:cNvPr id="5" name="Shape 3"/>
          <p:cNvSpPr/>
          <p:nvPr/>
        </p:nvSpPr>
        <p:spPr>
          <a:xfrm>
            <a:off x="0" y="4892040"/>
            <a:ext cx="9144000" cy="251460"/>
          </a:xfrm>
          <a:prstGeom prst="rect">
            <a:avLst/>
          </a:prstGeom>
          <a:solidFill>
            <a:srgbClr val="EEF4F8"/>
          </a:solidFill>
          <a:ln w="12700">
            <a:solidFill>
              <a:srgbClr val="EEF4F8"/>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Kevin Sayavong  |  Data Analytics Capstone  |  LendingClub Loan Default Analysis</a:t>
            </a:r>
            <a:endParaRPr lang="en-US" sz="900" dirty="0"/>
          </a:p>
        </p:txBody>
      </p:sp>
      <p:sp>
        <p:nvSpPr>
          <p:cNvPr id="7" name="Text 5"/>
          <p:cNvSpPr/>
          <p:nvPr/>
        </p:nvSpPr>
        <p:spPr>
          <a:xfrm>
            <a:off x="365760" y="1078992"/>
            <a:ext cx="4206240" cy="256032"/>
          </a:xfrm>
          <a:prstGeom prst="rect">
            <a:avLst/>
          </a:prstGeom>
          <a:noFill/>
          <a:ln/>
        </p:spPr>
        <p:txBody>
          <a:bodyPr wrap="square" rtlCol="0" anchor="ctr"/>
          <a:lstStyle/>
          <a:p>
            <a:pPr marL="0" indent="0">
              <a:buNone/>
            </a:pPr>
            <a:r>
              <a:rPr lang="en-US" sz="1100" b="1" kern="0" spc="200" dirty="0">
                <a:solidFill>
                  <a:srgbClr val="065A82"/>
                </a:solidFill>
                <a:latin typeface="Calibri" pitchFamily="34" charset="0"/>
                <a:ea typeface="Calibri" pitchFamily="34" charset="-122"/>
                <a:cs typeface="Calibri" pitchFamily="34" charset="-120"/>
              </a:rPr>
              <a:t>CLEANING STEPS</a:t>
            </a:r>
            <a:endParaRPr lang="en-US" sz="1100" dirty="0"/>
          </a:p>
        </p:txBody>
      </p:sp>
      <p:sp>
        <p:nvSpPr>
          <p:cNvPr id="8" name="Shape 6"/>
          <p:cNvSpPr/>
          <p:nvPr/>
        </p:nvSpPr>
        <p:spPr>
          <a:xfrm>
            <a:off x="274320" y="1399032"/>
            <a:ext cx="329184" cy="329184"/>
          </a:xfrm>
          <a:prstGeom prst="ellipse">
            <a:avLst/>
          </a:prstGeom>
          <a:solidFill>
            <a:srgbClr val="065A82"/>
          </a:solidFill>
          <a:ln w="12700">
            <a:solidFill>
              <a:srgbClr val="065A82"/>
            </a:solidFill>
            <a:prstDash val="solid"/>
          </a:ln>
        </p:spPr>
      </p:sp>
      <p:sp>
        <p:nvSpPr>
          <p:cNvPr id="9" name="Text 7"/>
          <p:cNvSpPr/>
          <p:nvPr/>
        </p:nvSpPr>
        <p:spPr>
          <a:xfrm>
            <a:off x="274320" y="1399032"/>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694944" y="1389888"/>
            <a:ext cx="3840480" cy="219456"/>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Symbol Removal</a:t>
            </a:r>
            <a:endParaRPr lang="en-US" sz="1200" dirty="0"/>
          </a:p>
        </p:txBody>
      </p:sp>
      <p:sp>
        <p:nvSpPr>
          <p:cNvPr id="11" name="Text 9"/>
          <p:cNvSpPr/>
          <p:nvPr/>
        </p:nvSpPr>
        <p:spPr>
          <a:xfrm>
            <a:off x="694944" y="1591056"/>
            <a:ext cx="3840480" cy="21945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Stripped $ and commas from Installments column</a:t>
            </a:r>
            <a:endParaRPr lang="en-US" sz="1100" dirty="0"/>
          </a:p>
        </p:txBody>
      </p:sp>
      <p:sp>
        <p:nvSpPr>
          <p:cNvPr id="12" name="Shape 10"/>
          <p:cNvSpPr/>
          <p:nvPr/>
        </p:nvSpPr>
        <p:spPr>
          <a:xfrm>
            <a:off x="274320" y="2066544"/>
            <a:ext cx="329184" cy="329184"/>
          </a:xfrm>
          <a:prstGeom prst="ellipse">
            <a:avLst/>
          </a:prstGeom>
          <a:solidFill>
            <a:srgbClr val="065A82"/>
          </a:solidFill>
          <a:ln w="12700">
            <a:solidFill>
              <a:srgbClr val="065A82"/>
            </a:solidFill>
            <a:prstDash val="solid"/>
          </a:ln>
        </p:spPr>
      </p:sp>
      <p:sp>
        <p:nvSpPr>
          <p:cNvPr id="13" name="Text 11"/>
          <p:cNvSpPr/>
          <p:nvPr/>
        </p:nvSpPr>
        <p:spPr>
          <a:xfrm>
            <a:off x="274320" y="2066544"/>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694944" y="2057400"/>
            <a:ext cx="3840480" cy="219456"/>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Type Conversion</a:t>
            </a:r>
            <a:endParaRPr lang="en-US" sz="1200" dirty="0"/>
          </a:p>
        </p:txBody>
      </p:sp>
      <p:sp>
        <p:nvSpPr>
          <p:cNvPr id="15" name="Text 13"/>
          <p:cNvSpPr/>
          <p:nvPr/>
        </p:nvSpPr>
        <p:spPr>
          <a:xfrm>
            <a:off x="694944" y="2258568"/>
            <a:ext cx="3840480" cy="21945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All numeric fields: text → float using pd.to_numeric()</a:t>
            </a:r>
            <a:endParaRPr lang="en-US" sz="1100" dirty="0"/>
          </a:p>
        </p:txBody>
      </p:sp>
      <p:sp>
        <p:nvSpPr>
          <p:cNvPr id="16" name="Shape 14"/>
          <p:cNvSpPr/>
          <p:nvPr/>
        </p:nvSpPr>
        <p:spPr>
          <a:xfrm>
            <a:off x="274320" y="2734056"/>
            <a:ext cx="329184" cy="329184"/>
          </a:xfrm>
          <a:prstGeom prst="ellipse">
            <a:avLst/>
          </a:prstGeom>
          <a:solidFill>
            <a:srgbClr val="065A82"/>
          </a:solidFill>
          <a:ln w="12700">
            <a:solidFill>
              <a:srgbClr val="065A82"/>
            </a:solidFill>
            <a:prstDash val="solid"/>
          </a:ln>
        </p:spPr>
      </p:sp>
      <p:sp>
        <p:nvSpPr>
          <p:cNvPr id="17" name="Text 15"/>
          <p:cNvSpPr/>
          <p:nvPr/>
        </p:nvSpPr>
        <p:spPr>
          <a:xfrm>
            <a:off x="274320" y="2734056"/>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694944" y="2724912"/>
            <a:ext cx="3840480" cy="219456"/>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Categorical Encoding</a:t>
            </a:r>
            <a:endParaRPr lang="en-US" sz="1200" dirty="0"/>
          </a:p>
        </p:txBody>
      </p:sp>
      <p:sp>
        <p:nvSpPr>
          <p:cNvPr id="19" name="Text 17"/>
          <p:cNvSpPr/>
          <p:nvPr/>
        </p:nvSpPr>
        <p:spPr>
          <a:xfrm>
            <a:off x="694944" y="2926080"/>
            <a:ext cx="3840480" cy="21945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"Purpose" → 8 binary columns via one-hot encoding</a:t>
            </a:r>
            <a:endParaRPr lang="en-US" sz="1100" dirty="0"/>
          </a:p>
        </p:txBody>
      </p:sp>
      <p:sp>
        <p:nvSpPr>
          <p:cNvPr id="20" name="Shape 18"/>
          <p:cNvSpPr/>
          <p:nvPr/>
        </p:nvSpPr>
        <p:spPr>
          <a:xfrm>
            <a:off x="274320" y="3401568"/>
            <a:ext cx="329184" cy="329184"/>
          </a:xfrm>
          <a:prstGeom prst="ellipse">
            <a:avLst/>
          </a:prstGeom>
          <a:solidFill>
            <a:srgbClr val="065A82"/>
          </a:solidFill>
          <a:ln w="12700">
            <a:solidFill>
              <a:srgbClr val="065A82"/>
            </a:solidFill>
            <a:prstDash val="solid"/>
          </a:ln>
        </p:spPr>
      </p:sp>
      <p:sp>
        <p:nvSpPr>
          <p:cNvPr id="21" name="Text 19"/>
          <p:cNvSpPr/>
          <p:nvPr/>
        </p:nvSpPr>
        <p:spPr>
          <a:xfrm>
            <a:off x="274320" y="3401568"/>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694944" y="3392424"/>
            <a:ext cx="3840480" cy="219456"/>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Rate Standardization</a:t>
            </a:r>
            <a:endParaRPr lang="en-US" sz="1200" dirty="0"/>
          </a:p>
        </p:txBody>
      </p:sp>
      <p:sp>
        <p:nvSpPr>
          <p:cNvPr id="23" name="Text 21"/>
          <p:cNvSpPr/>
          <p:nvPr/>
        </p:nvSpPr>
        <p:spPr>
          <a:xfrm>
            <a:off x="694944" y="3593592"/>
            <a:ext cx="3840480" cy="21945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DTI &amp; Revolving Utilization divided by 100 → decimals</a:t>
            </a:r>
            <a:endParaRPr lang="en-US" sz="1100" dirty="0"/>
          </a:p>
        </p:txBody>
      </p:sp>
      <p:sp>
        <p:nvSpPr>
          <p:cNvPr id="24" name="Shape 22"/>
          <p:cNvSpPr/>
          <p:nvPr/>
        </p:nvSpPr>
        <p:spPr>
          <a:xfrm>
            <a:off x="274320" y="4069080"/>
            <a:ext cx="329184" cy="329184"/>
          </a:xfrm>
          <a:prstGeom prst="ellipse">
            <a:avLst/>
          </a:prstGeom>
          <a:solidFill>
            <a:srgbClr val="065A82"/>
          </a:solidFill>
          <a:ln w="12700">
            <a:solidFill>
              <a:srgbClr val="065A82"/>
            </a:solidFill>
            <a:prstDash val="solid"/>
          </a:ln>
        </p:spPr>
      </p:sp>
      <p:sp>
        <p:nvSpPr>
          <p:cNvPr id="25" name="Text 23"/>
          <p:cNvSpPr/>
          <p:nvPr/>
        </p:nvSpPr>
        <p:spPr>
          <a:xfrm>
            <a:off x="274320" y="4069080"/>
            <a:ext cx="329184"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p:nvPr/>
        </p:nvSpPr>
        <p:spPr>
          <a:xfrm>
            <a:off x="694944" y="4059936"/>
            <a:ext cx="3840480" cy="219456"/>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Column Removal</a:t>
            </a:r>
            <a:endParaRPr lang="en-US" sz="1200" dirty="0"/>
          </a:p>
        </p:txBody>
      </p:sp>
      <p:sp>
        <p:nvSpPr>
          <p:cNvPr id="27" name="Text 25"/>
          <p:cNvSpPr/>
          <p:nvPr/>
        </p:nvSpPr>
        <p:spPr>
          <a:xfrm>
            <a:off x="694944" y="4261104"/>
            <a:ext cx="3840480" cy="219456"/>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Unnamed artifact columns + redundant FICO Bucket removed</a:t>
            </a:r>
            <a:endParaRPr lang="en-US" sz="1100" dirty="0"/>
          </a:p>
        </p:txBody>
      </p:sp>
      <p:sp>
        <p:nvSpPr>
          <p:cNvPr id="28" name="Shape 26"/>
          <p:cNvSpPr/>
          <p:nvPr/>
        </p:nvSpPr>
        <p:spPr>
          <a:xfrm>
            <a:off x="4937760" y="1051560"/>
            <a:ext cx="3840480" cy="3611880"/>
          </a:xfrm>
          <a:prstGeom prst="rect">
            <a:avLst/>
          </a:prstGeom>
          <a:solidFill>
            <a:srgbClr val="FFF8E1"/>
          </a:solidFill>
          <a:ln w="12700">
            <a:solidFill>
              <a:srgbClr val="F5C842"/>
            </a:solidFill>
            <a:prstDash val="solid"/>
          </a:ln>
        </p:spPr>
      </p:sp>
      <p:sp>
        <p:nvSpPr>
          <p:cNvPr id="29" name="Text 27"/>
          <p:cNvSpPr/>
          <p:nvPr/>
        </p:nvSpPr>
        <p:spPr>
          <a:xfrm>
            <a:off x="5074920" y="1152144"/>
            <a:ext cx="3566160" cy="329184"/>
          </a:xfrm>
          <a:prstGeom prst="rect">
            <a:avLst/>
          </a:prstGeom>
          <a:noFill/>
          <a:ln/>
        </p:spPr>
        <p:txBody>
          <a:bodyPr wrap="square" rtlCol="0" anchor="ctr"/>
          <a:lstStyle/>
          <a:p>
            <a:pPr marL="0" indent="0">
              <a:buNone/>
            </a:pPr>
            <a:r>
              <a:rPr lang="en-US" sz="1400" b="1" dirty="0">
                <a:solidFill>
                  <a:srgbClr val="8B5E00"/>
                </a:solidFill>
                <a:latin typeface="Calibri" pitchFamily="34" charset="0"/>
                <a:ea typeface="Calibri" pitchFamily="34" charset="-122"/>
                <a:cs typeface="Calibri" pitchFamily="34" charset="-120"/>
              </a:rPr>
              <a:t>* Feature Engineering</a:t>
            </a:r>
            <a:endParaRPr lang="en-US" sz="1400" dirty="0"/>
          </a:p>
        </p:txBody>
      </p:sp>
      <p:sp>
        <p:nvSpPr>
          <p:cNvPr id="30" name="Text 28"/>
          <p:cNvSpPr/>
          <p:nvPr/>
        </p:nvSpPr>
        <p:spPr>
          <a:xfrm>
            <a:off x="5074920" y="1536192"/>
            <a:ext cx="3566160" cy="256032"/>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Monthly Income</a:t>
            </a:r>
            <a:endParaRPr lang="en-US" sz="1300" dirty="0"/>
          </a:p>
        </p:txBody>
      </p:sp>
      <p:sp>
        <p:nvSpPr>
          <p:cNvPr id="31" name="Text 29"/>
          <p:cNvSpPr/>
          <p:nvPr/>
        </p:nvSpPr>
        <p:spPr>
          <a:xfrm>
            <a:off x="5074920" y="1828800"/>
            <a:ext cx="3566160" cy="749808"/>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 exp(Log Annual Income) ÷ 12</a:t>
            </a:r>
            <a:endParaRPr lang="en-US" sz="1100" dirty="0"/>
          </a:p>
          <a:p>
            <a:pPr marL="0" indent="0">
              <a:buNone/>
            </a:pP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Converts the mathematically stored log value back into a real monthly dollar figure.</a:t>
            </a:r>
            <a:endParaRPr lang="en-US" sz="1100" dirty="0"/>
          </a:p>
        </p:txBody>
      </p:sp>
      <p:sp>
        <p:nvSpPr>
          <p:cNvPr id="32" name="Shape 30"/>
          <p:cNvSpPr/>
          <p:nvPr/>
        </p:nvSpPr>
        <p:spPr>
          <a:xfrm>
            <a:off x="5074920" y="2651760"/>
            <a:ext cx="3474720" cy="0"/>
          </a:xfrm>
          <a:prstGeom prst="line">
            <a:avLst/>
          </a:prstGeom>
          <a:noFill/>
          <a:ln w="6350">
            <a:solidFill>
              <a:srgbClr val="DDBA40"/>
            </a:solidFill>
            <a:prstDash val="solid"/>
          </a:ln>
        </p:spPr>
      </p:sp>
      <p:sp>
        <p:nvSpPr>
          <p:cNvPr id="33" name="Text 31"/>
          <p:cNvSpPr/>
          <p:nvPr/>
        </p:nvSpPr>
        <p:spPr>
          <a:xfrm>
            <a:off x="5074920" y="2743200"/>
            <a:ext cx="3566160" cy="256032"/>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Installment as Percent of Income *</a:t>
            </a:r>
            <a:endParaRPr lang="en-US" sz="1300" dirty="0"/>
          </a:p>
        </p:txBody>
      </p:sp>
      <p:sp>
        <p:nvSpPr>
          <p:cNvPr id="34" name="Text 32"/>
          <p:cNvSpPr/>
          <p:nvPr/>
        </p:nvSpPr>
        <p:spPr>
          <a:xfrm>
            <a:off x="5074920" y="3035808"/>
            <a:ext cx="3566160" cy="914400"/>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 Installment ÷ Monthly Income</a:t>
            </a:r>
            <a:endParaRPr lang="en-US" sz="1100" dirty="0"/>
          </a:p>
          <a:p>
            <a:pPr marL="0" indent="0">
              <a:buNone/>
            </a:pP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Mirrors the real-world "payment-to-income" ratio used in mortgage lending.</a:t>
            </a:r>
            <a:endParaRPr lang="en-US" sz="1100" dirty="0"/>
          </a:p>
          <a:p>
            <a:pPr marL="0" indent="0">
              <a:buNone/>
            </a:pPr>
            <a:endParaRPr lang="en-US" sz="1100" dirty="0"/>
          </a:p>
          <a:p>
            <a:pPr marL="0" indent="0">
              <a:buNone/>
            </a:pPr>
            <a:r>
              <a:rPr lang="en-US" sz="1100" dirty="0">
                <a:solidFill>
                  <a:srgbClr val="2D3748"/>
                </a:solidFill>
                <a:latin typeface="Calibri" pitchFamily="34" charset="0"/>
                <a:ea typeface="Calibri" pitchFamily="34" charset="-122"/>
                <a:cs typeface="Calibri" pitchFamily="34" charset="-120"/>
              </a:rPr>
              <a:t>* Not present in original dataset.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5A82"/>
          </a:solidFill>
          <a:ln w="12700">
            <a:solidFill>
              <a:srgbClr val="065A82"/>
            </a:solidFill>
            <a:prstDash val="solid"/>
          </a:ln>
        </p:spPr>
      </p:sp>
      <p:sp>
        <p:nvSpPr>
          <p:cNvPr id="3" name="Text 1"/>
          <p:cNvSpPr/>
          <p:nvPr/>
        </p:nvSpPr>
        <p:spPr>
          <a:xfrm>
            <a:off x="365760" y="73152"/>
            <a:ext cx="841248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Analytical Methodology</a:t>
            </a:r>
            <a:endParaRPr lang="en-US" sz="2400" dirty="0"/>
          </a:p>
        </p:txBody>
      </p:sp>
      <p:sp>
        <p:nvSpPr>
          <p:cNvPr id="4" name="Text 2"/>
          <p:cNvSpPr/>
          <p:nvPr/>
        </p:nvSpPr>
        <p:spPr>
          <a:xfrm>
            <a:off x="365760" y="566928"/>
            <a:ext cx="8412480" cy="329184"/>
          </a:xfrm>
          <a:prstGeom prst="rect">
            <a:avLst/>
          </a:prstGeom>
          <a:noFill/>
          <a:ln/>
        </p:spPr>
        <p:txBody>
          <a:bodyPr wrap="square" rtlCol="0" anchor="ctr"/>
          <a:lstStyle/>
          <a:p>
            <a:pPr marL="0" indent="0">
              <a:buNone/>
            </a:pPr>
            <a:r>
              <a:rPr lang="en-US" sz="1200" i="1" dirty="0">
                <a:solidFill>
                  <a:srgbClr val="A8D4E8"/>
                </a:solidFill>
                <a:latin typeface="Calibri" pitchFamily="34" charset="0"/>
                <a:ea typeface="Calibri" pitchFamily="34" charset="-122"/>
                <a:cs typeface="Calibri" pitchFamily="34" charset="-120"/>
              </a:rPr>
              <a:t>How we built a fair, reproducible predictive model</a:t>
            </a:r>
            <a:endParaRPr lang="en-US" sz="1200" dirty="0"/>
          </a:p>
        </p:txBody>
      </p:sp>
      <p:sp>
        <p:nvSpPr>
          <p:cNvPr id="5" name="Shape 3"/>
          <p:cNvSpPr/>
          <p:nvPr/>
        </p:nvSpPr>
        <p:spPr>
          <a:xfrm>
            <a:off x="0" y="4892040"/>
            <a:ext cx="9144000" cy="251460"/>
          </a:xfrm>
          <a:prstGeom prst="rect">
            <a:avLst/>
          </a:prstGeom>
          <a:solidFill>
            <a:srgbClr val="EEF4F8"/>
          </a:solidFill>
          <a:ln w="12700">
            <a:solidFill>
              <a:srgbClr val="EEF4F8"/>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Kevin Sayavong  |  Data Analytics Capstone  |  LendingClub Loan Default Analysis</a:t>
            </a:r>
            <a:endParaRPr lang="en-US" sz="900" dirty="0"/>
          </a:p>
        </p:txBody>
      </p:sp>
      <p:pic>
        <p:nvPicPr>
          <p:cNvPr id="7" name="Image 0" descr="preencoded.png"/>
          <p:cNvPicPr>
            <a:picLocks noChangeAspect="1"/>
          </p:cNvPicPr>
          <p:nvPr/>
        </p:nvPicPr>
        <p:blipFill>
          <a:blip r:embed="rId3"/>
          <a:stretch>
            <a:fillRect/>
          </a:stretch>
        </p:blipFill>
        <p:spPr>
          <a:xfrm>
            <a:off x="274320" y="1051560"/>
            <a:ext cx="4114800" cy="2834640"/>
          </a:xfrm>
          <a:prstGeom prst="rect">
            <a:avLst/>
          </a:prstGeom>
        </p:spPr>
      </p:pic>
      <p:sp>
        <p:nvSpPr>
          <p:cNvPr id="8" name="Text 5"/>
          <p:cNvSpPr/>
          <p:nvPr/>
        </p:nvSpPr>
        <p:spPr>
          <a:xfrm>
            <a:off x="274320" y="3913632"/>
            <a:ext cx="4114800" cy="228600"/>
          </a:xfrm>
          <a:prstGeom prst="rect">
            <a:avLst/>
          </a:prstGeom>
          <a:no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Fig 1: Raw class imbalance — 84% paid, 16% defaulted</a:t>
            </a:r>
            <a:endParaRPr lang="en-US" sz="900" dirty="0"/>
          </a:p>
        </p:txBody>
      </p:sp>
      <p:sp>
        <p:nvSpPr>
          <p:cNvPr id="9" name="Text 6"/>
          <p:cNvSpPr/>
          <p:nvPr/>
        </p:nvSpPr>
        <p:spPr>
          <a:xfrm>
            <a:off x="4663440" y="1078992"/>
            <a:ext cx="4114800" cy="256032"/>
          </a:xfrm>
          <a:prstGeom prst="rect">
            <a:avLst/>
          </a:prstGeom>
          <a:noFill/>
          <a:ln/>
        </p:spPr>
        <p:txBody>
          <a:bodyPr wrap="square" rtlCol="0" anchor="ctr"/>
          <a:lstStyle/>
          <a:p>
            <a:pPr marL="0" indent="0">
              <a:buNone/>
            </a:pPr>
            <a:r>
              <a:rPr lang="en-US" sz="1100" b="1" kern="0" spc="200" dirty="0">
                <a:solidFill>
                  <a:srgbClr val="065A82"/>
                </a:solidFill>
                <a:latin typeface="Calibri" pitchFamily="34" charset="0"/>
                <a:ea typeface="Calibri" pitchFamily="34" charset="-122"/>
                <a:cs typeface="Calibri" pitchFamily="34" charset="-120"/>
              </a:rPr>
              <a:t>METHODOLOGY DECISIONS</a:t>
            </a:r>
            <a:endParaRPr lang="en-US" sz="1100" dirty="0"/>
          </a:p>
        </p:txBody>
      </p:sp>
      <p:sp>
        <p:nvSpPr>
          <p:cNvPr id="10" name="Shape 7"/>
          <p:cNvSpPr/>
          <p:nvPr/>
        </p:nvSpPr>
        <p:spPr>
          <a:xfrm>
            <a:off x="4663440" y="1408176"/>
            <a:ext cx="54864" cy="658368"/>
          </a:xfrm>
          <a:prstGeom prst="rect">
            <a:avLst/>
          </a:prstGeom>
          <a:solidFill>
            <a:srgbClr val="B85042"/>
          </a:solidFill>
          <a:ln w="12700">
            <a:solidFill>
              <a:srgbClr val="B85042"/>
            </a:solidFill>
            <a:prstDash val="solid"/>
          </a:ln>
        </p:spPr>
      </p:sp>
      <p:sp>
        <p:nvSpPr>
          <p:cNvPr id="11" name="Text 8"/>
          <p:cNvSpPr/>
          <p:nvPr/>
        </p:nvSpPr>
        <p:spPr>
          <a:xfrm>
            <a:off x="4800600" y="1408176"/>
            <a:ext cx="3977640" cy="256032"/>
          </a:xfrm>
          <a:prstGeom prst="rect">
            <a:avLst/>
          </a:prstGeom>
          <a:noFill/>
          <a:ln/>
        </p:spPr>
        <p:txBody>
          <a:bodyPr wrap="square"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Class Imbalance Fix</a:t>
            </a:r>
            <a:endParaRPr lang="en-US" sz="1200" dirty="0"/>
          </a:p>
        </p:txBody>
      </p:sp>
      <p:sp>
        <p:nvSpPr>
          <p:cNvPr id="12" name="Text 9"/>
          <p:cNvSpPr/>
          <p:nvPr/>
        </p:nvSpPr>
        <p:spPr>
          <a:xfrm>
            <a:off x="4800600" y="1655064"/>
            <a:ext cx="3977640" cy="347472"/>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Oversampled minority class to 8,045 records using sklearn resample(). Without this, a model can "cheat" — predicting repaid every time and be 84% accurate while catching 0% of defaults.</a:t>
            </a:r>
            <a:endParaRPr lang="en-US" sz="1000" dirty="0"/>
          </a:p>
        </p:txBody>
      </p:sp>
      <p:sp>
        <p:nvSpPr>
          <p:cNvPr id="13" name="Shape 10"/>
          <p:cNvSpPr/>
          <p:nvPr/>
        </p:nvSpPr>
        <p:spPr>
          <a:xfrm>
            <a:off x="4663440" y="2231136"/>
            <a:ext cx="54864" cy="658368"/>
          </a:xfrm>
          <a:prstGeom prst="rect">
            <a:avLst/>
          </a:prstGeom>
          <a:solidFill>
            <a:srgbClr val="1C7293"/>
          </a:solidFill>
          <a:ln w="12700">
            <a:solidFill>
              <a:srgbClr val="1C7293"/>
            </a:solidFill>
            <a:prstDash val="solid"/>
          </a:ln>
        </p:spPr>
      </p:sp>
      <p:sp>
        <p:nvSpPr>
          <p:cNvPr id="14" name="Text 11"/>
          <p:cNvSpPr/>
          <p:nvPr/>
        </p:nvSpPr>
        <p:spPr>
          <a:xfrm>
            <a:off x="4800600" y="2231136"/>
            <a:ext cx="3977640" cy="256032"/>
          </a:xfrm>
          <a:prstGeom prst="rect">
            <a:avLst/>
          </a:prstGeom>
          <a:noFill/>
          <a:ln/>
        </p:spPr>
        <p:txBody>
          <a:bodyPr wrap="square"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StandardScaler</a:t>
            </a:r>
            <a:endParaRPr lang="en-US" sz="1200" dirty="0"/>
          </a:p>
        </p:txBody>
      </p:sp>
      <p:sp>
        <p:nvSpPr>
          <p:cNvPr id="15" name="Text 12"/>
          <p:cNvSpPr/>
          <p:nvPr/>
        </p:nvSpPr>
        <p:spPr>
          <a:xfrm>
            <a:off x="4800600" y="2478024"/>
            <a:ext cx="3977640" cy="347472"/>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Rescaled all features to mean=0, std=1. Prevents large-number columns (income) from dominating small-number columns (FICO) in the model.</a:t>
            </a:r>
            <a:endParaRPr lang="en-US" sz="1000" dirty="0"/>
          </a:p>
        </p:txBody>
      </p:sp>
      <p:sp>
        <p:nvSpPr>
          <p:cNvPr id="16" name="Shape 13"/>
          <p:cNvSpPr/>
          <p:nvPr/>
        </p:nvSpPr>
        <p:spPr>
          <a:xfrm>
            <a:off x="4663440" y="3054096"/>
            <a:ext cx="54864" cy="658368"/>
          </a:xfrm>
          <a:prstGeom prst="rect">
            <a:avLst/>
          </a:prstGeom>
          <a:solidFill>
            <a:srgbClr val="065A82"/>
          </a:solidFill>
          <a:ln w="12700">
            <a:solidFill>
              <a:srgbClr val="065A82"/>
            </a:solidFill>
            <a:prstDash val="solid"/>
          </a:ln>
        </p:spPr>
      </p:sp>
      <p:sp>
        <p:nvSpPr>
          <p:cNvPr id="17" name="Text 14"/>
          <p:cNvSpPr/>
          <p:nvPr/>
        </p:nvSpPr>
        <p:spPr>
          <a:xfrm>
            <a:off x="4800600" y="3054096"/>
            <a:ext cx="3977640" cy="256032"/>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80/20 Train/Test Split</a:t>
            </a:r>
            <a:endParaRPr lang="en-US" sz="1200" dirty="0"/>
          </a:p>
        </p:txBody>
      </p:sp>
      <p:sp>
        <p:nvSpPr>
          <p:cNvPr id="18" name="Text 15"/>
          <p:cNvSpPr/>
          <p:nvPr/>
        </p:nvSpPr>
        <p:spPr>
          <a:xfrm>
            <a:off x="4800600" y="3300984"/>
            <a:ext cx="3977640" cy="347472"/>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Model trained on 80% of data; evaluated on 20% it has never seen. Ensures performance metrics reflect real-world accuracy, not memorization.</a:t>
            </a:r>
            <a:endParaRPr lang="en-US" sz="1000" dirty="0"/>
          </a:p>
        </p:txBody>
      </p:sp>
      <p:sp>
        <p:nvSpPr>
          <p:cNvPr id="19" name="Shape 16"/>
          <p:cNvSpPr/>
          <p:nvPr/>
        </p:nvSpPr>
        <p:spPr>
          <a:xfrm>
            <a:off x="4663440" y="3877056"/>
            <a:ext cx="54864" cy="658368"/>
          </a:xfrm>
          <a:prstGeom prst="rect">
            <a:avLst/>
          </a:prstGeom>
          <a:solidFill>
            <a:srgbClr val="2E7D32"/>
          </a:solidFill>
          <a:ln w="12700">
            <a:solidFill>
              <a:srgbClr val="2E7D32"/>
            </a:solidFill>
            <a:prstDash val="solid"/>
          </a:ln>
        </p:spPr>
      </p:sp>
      <p:sp>
        <p:nvSpPr>
          <p:cNvPr id="20" name="Text 17"/>
          <p:cNvSpPr/>
          <p:nvPr/>
        </p:nvSpPr>
        <p:spPr>
          <a:xfrm>
            <a:off x="4800600" y="3877056"/>
            <a:ext cx="3977640" cy="256032"/>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Logistic Regression</a:t>
            </a:r>
            <a:endParaRPr lang="en-US" sz="1200" dirty="0"/>
          </a:p>
        </p:txBody>
      </p:sp>
      <p:sp>
        <p:nvSpPr>
          <p:cNvPr id="21" name="Text 18"/>
          <p:cNvSpPr/>
          <p:nvPr/>
        </p:nvSpPr>
        <p:spPr>
          <a:xfrm>
            <a:off x="4800600" y="4123944"/>
            <a:ext cx="3977640" cy="347472"/>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Selected for interpretability: every coefficient directly shows a variable's influence. Appropriate for binary classification (paid vs. defaulted).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5A82"/>
          </a:solidFill>
          <a:ln w="12700">
            <a:solidFill>
              <a:srgbClr val="065A82"/>
            </a:solidFill>
            <a:prstDash val="solid"/>
          </a:ln>
        </p:spPr>
      </p:sp>
      <p:sp>
        <p:nvSpPr>
          <p:cNvPr id="3" name="Text 1"/>
          <p:cNvSpPr/>
          <p:nvPr/>
        </p:nvSpPr>
        <p:spPr>
          <a:xfrm>
            <a:off x="365760" y="73152"/>
            <a:ext cx="841248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Finding 1: What Actually Drives Default?</a:t>
            </a:r>
            <a:endParaRPr lang="en-US" sz="2400" dirty="0"/>
          </a:p>
        </p:txBody>
      </p:sp>
      <p:sp>
        <p:nvSpPr>
          <p:cNvPr id="4" name="Text 2"/>
          <p:cNvSpPr/>
          <p:nvPr/>
        </p:nvSpPr>
        <p:spPr>
          <a:xfrm>
            <a:off x="365760" y="566928"/>
            <a:ext cx="8412480" cy="329184"/>
          </a:xfrm>
          <a:prstGeom prst="rect">
            <a:avLst/>
          </a:prstGeom>
          <a:noFill/>
          <a:ln/>
        </p:spPr>
        <p:txBody>
          <a:bodyPr wrap="square" rtlCol="0" anchor="ctr"/>
          <a:lstStyle/>
          <a:p>
            <a:pPr marL="0" indent="0">
              <a:buNone/>
            </a:pPr>
            <a:r>
              <a:rPr lang="en-US" sz="1200" i="1" dirty="0">
                <a:solidFill>
                  <a:srgbClr val="A8D4E8"/>
                </a:solidFill>
                <a:latin typeface="Calibri" pitchFamily="34" charset="0"/>
                <a:ea typeface="Calibri" pitchFamily="34" charset="-122"/>
                <a:cs typeface="Calibri" pitchFamily="34" charset="-120"/>
              </a:rPr>
              <a:t>Pearson correlation analysis across all 21 features</a:t>
            </a:r>
            <a:endParaRPr lang="en-US" sz="1200" dirty="0"/>
          </a:p>
        </p:txBody>
      </p:sp>
      <p:sp>
        <p:nvSpPr>
          <p:cNvPr id="5" name="Shape 3"/>
          <p:cNvSpPr/>
          <p:nvPr/>
        </p:nvSpPr>
        <p:spPr>
          <a:xfrm>
            <a:off x="0" y="4892040"/>
            <a:ext cx="9144000" cy="251460"/>
          </a:xfrm>
          <a:prstGeom prst="rect">
            <a:avLst/>
          </a:prstGeom>
          <a:solidFill>
            <a:srgbClr val="EEF4F8"/>
          </a:solidFill>
          <a:ln w="12700">
            <a:solidFill>
              <a:srgbClr val="EEF4F8"/>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Kevin Sayavong  |  Data Analytics Capstone  |  LendingClub Loan Default Analysis</a:t>
            </a:r>
            <a:endParaRPr lang="en-US" sz="900" dirty="0"/>
          </a:p>
        </p:txBody>
      </p:sp>
      <p:pic>
        <p:nvPicPr>
          <p:cNvPr id="7" name="Image 0" descr="preencoded.png"/>
          <p:cNvPicPr>
            <a:picLocks noChangeAspect="1"/>
          </p:cNvPicPr>
          <p:nvPr/>
        </p:nvPicPr>
        <p:blipFill>
          <a:blip r:embed="rId3"/>
          <a:stretch>
            <a:fillRect/>
          </a:stretch>
        </p:blipFill>
        <p:spPr>
          <a:xfrm>
            <a:off x="274320" y="1051560"/>
            <a:ext cx="5029200" cy="3749040"/>
          </a:xfrm>
          <a:prstGeom prst="rect">
            <a:avLst/>
          </a:prstGeom>
        </p:spPr>
      </p:pic>
      <p:sp>
        <p:nvSpPr>
          <p:cNvPr id="8" name="Shape 5"/>
          <p:cNvSpPr/>
          <p:nvPr/>
        </p:nvSpPr>
        <p:spPr>
          <a:xfrm>
            <a:off x="5532120" y="1097280"/>
            <a:ext cx="3291840" cy="2112264"/>
          </a:xfrm>
          <a:prstGeom prst="rect">
            <a:avLst/>
          </a:prstGeom>
          <a:solidFill>
            <a:srgbClr val="FFF0EE"/>
          </a:solidFill>
          <a:ln w="15240">
            <a:solidFill>
              <a:srgbClr val="B85042"/>
            </a:solidFill>
            <a:prstDash val="solid"/>
          </a:ln>
        </p:spPr>
      </p:sp>
      <p:sp>
        <p:nvSpPr>
          <p:cNvPr id="9" name="Text 6"/>
          <p:cNvSpPr/>
          <p:nvPr/>
        </p:nvSpPr>
        <p:spPr>
          <a:xfrm>
            <a:off x="5623560" y="1170432"/>
            <a:ext cx="3108960" cy="256032"/>
          </a:xfrm>
          <a:prstGeom prst="rect">
            <a:avLst/>
          </a:prstGeom>
          <a:noFill/>
          <a:ln/>
        </p:spPr>
        <p:txBody>
          <a:bodyPr wrap="square" rtlCol="0" anchor="ctr"/>
          <a:lstStyle/>
          <a:p>
            <a:pPr marL="0" indent="0">
              <a:buNone/>
            </a:pPr>
            <a:r>
              <a:rPr lang="en-US" sz="1100" b="1" kern="0" spc="100" dirty="0">
                <a:solidFill>
                  <a:srgbClr val="B85042"/>
                </a:solidFill>
                <a:latin typeface="Calibri" pitchFamily="34" charset="0"/>
                <a:ea typeface="Calibri" pitchFamily="34" charset="-122"/>
                <a:cs typeface="Calibri" pitchFamily="34" charset="-120"/>
              </a:rPr>
              <a:t>HIGHEST RISK SIGNALS</a:t>
            </a:r>
            <a:endParaRPr lang="en-US" sz="1100" dirty="0"/>
          </a:p>
        </p:txBody>
      </p:sp>
      <p:sp>
        <p:nvSpPr>
          <p:cNvPr id="10" name="Text 7"/>
          <p:cNvSpPr/>
          <p:nvPr/>
        </p:nvSpPr>
        <p:spPr>
          <a:xfrm>
            <a:off x="5623560" y="1463040"/>
            <a:ext cx="3108960" cy="34747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 Interest Rate (+0.16)</a:t>
            </a:r>
            <a:endParaRPr lang="en-US" sz="1100" dirty="0"/>
          </a:p>
        </p:txBody>
      </p:sp>
      <p:sp>
        <p:nvSpPr>
          <p:cNvPr id="11" name="Text 8"/>
          <p:cNvSpPr/>
          <p:nvPr/>
        </p:nvSpPr>
        <p:spPr>
          <a:xfrm>
            <a:off x="5623560" y="1847088"/>
            <a:ext cx="3108960" cy="34747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 Inquiries Last 6 Months (+0.15)</a:t>
            </a:r>
            <a:endParaRPr lang="en-US" sz="1100" dirty="0"/>
          </a:p>
        </p:txBody>
      </p:sp>
      <p:sp>
        <p:nvSpPr>
          <p:cNvPr id="12" name="Text 9"/>
          <p:cNvSpPr/>
          <p:nvPr/>
        </p:nvSpPr>
        <p:spPr>
          <a:xfrm>
            <a:off x="5623560" y="2231136"/>
            <a:ext cx="3108960" cy="34747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 Small Business Purpose (+0.08)</a:t>
            </a:r>
            <a:endParaRPr lang="en-US" sz="1100" dirty="0"/>
          </a:p>
        </p:txBody>
      </p:sp>
      <p:sp>
        <p:nvSpPr>
          <p:cNvPr id="13" name="Text 10"/>
          <p:cNvSpPr/>
          <p:nvPr/>
        </p:nvSpPr>
        <p:spPr>
          <a:xfrm>
            <a:off x="5623560" y="2615184"/>
            <a:ext cx="3108960" cy="347472"/>
          </a:xfrm>
          <a:prstGeom prst="rect">
            <a:avLst/>
          </a:prstGeom>
          <a:noFill/>
          <a:ln/>
        </p:spPr>
        <p:txBody>
          <a:bodyPr wrap="square" rtlCol="0" anchor="ctr"/>
          <a:lstStyle/>
          <a:p>
            <a:pPr marL="0" indent="0">
              <a:buNone/>
            </a:pPr>
            <a:r>
              <a:rPr lang="en-US" sz="1100" b="1" dirty="0">
                <a:solidFill>
                  <a:srgbClr val="2D3748"/>
                </a:solidFill>
                <a:latin typeface="Calibri" pitchFamily="34" charset="0"/>
                <a:ea typeface="Calibri" pitchFamily="34" charset="-122"/>
                <a:cs typeface="Calibri" pitchFamily="34" charset="-120"/>
              </a:rPr>
              <a:t>↑ Installment as Percent of Income (+0.07) *</a:t>
            </a:r>
            <a:endParaRPr lang="en-US" sz="1100" dirty="0"/>
          </a:p>
        </p:txBody>
      </p:sp>
      <p:sp>
        <p:nvSpPr>
          <p:cNvPr id="14" name="Shape 11"/>
          <p:cNvSpPr/>
          <p:nvPr/>
        </p:nvSpPr>
        <p:spPr>
          <a:xfrm>
            <a:off x="5532120" y="3017520"/>
            <a:ext cx="3291840" cy="1307592"/>
          </a:xfrm>
          <a:prstGeom prst="rect">
            <a:avLst/>
          </a:prstGeom>
          <a:solidFill>
            <a:srgbClr val="EEF4F8"/>
          </a:solidFill>
          <a:ln w="15240">
            <a:solidFill>
              <a:srgbClr val="065A82"/>
            </a:solidFill>
            <a:prstDash val="solid"/>
          </a:ln>
        </p:spPr>
      </p:sp>
      <p:sp>
        <p:nvSpPr>
          <p:cNvPr id="15" name="Text 12"/>
          <p:cNvSpPr/>
          <p:nvPr/>
        </p:nvSpPr>
        <p:spPr>
          <a:xfrm>
            <a:off x="5623560" y="3090672"/>
            <a:ext cx="3108960" cy="256032"/>
          </a:xfrm>
          <a:prstGeom prst="rect">
            <a:avLst/>
          </a:prstGeom>
          <a:noFill/>
          <a:ln/>
        </p:spPr>
        <p:txBody>
          <a:bodyPr wrap="square" rtlCol="0" anchor="ctr"/>
          <a:lstStyle/>
          <a:p>
            <a:pPr marL="0" indent="0">
              <a:buNone/>
            </a:pPr>
            <a:r>
              <a:rPr lang="en-US" sz="1100" b="1" kern="0" spc="100" dirty="0">
                <a:solidFill>
                  <a:srgbClr val="065A82"/>
                </a:solidFill>
                <a:latin typeface="Calibri" pitchFamily="34" charset="0"/>
                <a:ea typeface="Calibri" pitchFamily="34" charset="-122"/>
                <a:cs typeface="Calibri" pitchFamily="34" charset="-120"/>
              </a:rPr>
              <a:t>STRONGEST PROTECTION</a:t>
            </a:r>
            <a:endParaRPr lang="en-US" sz="1100" dirty="0"/>
          </a:p>
        </p:txBody>
      </p:sp>
      <p:sp>
        <p:nvSpPr>
          <p:cNvPr id="16" name="Text 13"/>
          <p:cNvSpPr/>
          <p:nvPr/>
        </p:nvSpPr>
        <p:spPr>
          <a:xfrm>
            <a:off x="5623560" y="3383280"/>
            <a:ext cx="3108960" cy="34747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 Meets Credit Policy (−0.16)</a:t>
            </a:r>
            <a:endParaRPr lang="en-US" sz="1100" dirty="0"/>
          </a:p>
        </p:txBody>
      </p:sp>
      <p:sp>
        <p:nvSpPr>
          <p:cNvPr id="17" name="Text 14"/>
          <p:cNvSpPr/>
          <p:nvPr/>
        </p:nvSpPr>
        <p:spPr>
          <a:xfrm>
            <a:off x="5623560" y="3767328"/>
            <a:ext cx="3108960" cy="34747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 High FICO Score (−0.15)</a:t>
            </a:r>
            <a:endParaRPr lang="en-US" sz="1100" dirty="0"/>
          </a:p>
        </p:txBody>
      </p:sp>
      <p:sp>
        <p:nvSpPr>
          <p:cNvPr id="18" name="Text 15"/>
          <p:cNvSpPr/>
          <p:nvPr/>
        </p:nvSpPr>
        <p:spPr>
          <a:xfrm>
            <a:off x="5532120" y="4572000"/>
            <a:ext cx="3291840" cy="228600"/>
          </a:xfrm>
          <a:prstGeom prst="rect">
            <a:avLst/>
          </a:prstGeom>
          <a:noFill/>
          <a:ln/>
        </p:spPr>
        <p:txBody>
          <a:bodyPr wrap="square" rtlCol="0" anchor="ctr"/>
          <a:lstStyle/>
          <a:p>
            <a:pPr marL="0" indent="0">
              <a:buNone/>
            </a:pPr>
            <a:r>
              <a:rPr lang="en-US" sz="900" i="1" dirty="0">
                <a:solidFill>
                  <a:srgbClr val="8B5E00"/>
                </a:solidFill>
                <a:latin typeface="Calibri" pitchFamily="34" charset="0"/>
                <a:ea typeface="Calibri" pitchFamily="34" charset="-122"/>
                <a:cs typeface="Calibri" pitchFamily="34" charset="-120"/>
              </a:rPr>
              <a:t>* = not in original dataset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5A82"/>
          </a:solidFill>
          <a:ln w="12700">
            <a:solidFill>
              <a:srgbClr val="065A82"/>
            </a:solidFill>
            <a:prstDash val="solid"/>
          </a:ln>
        </p:spPr>
      </p:sp>
      <p:sp>
        <p:nvSpPr>
          <p:cNvPr id="3" name="Text 1"/>
          <p:cNvSpPr/>
          <p:nvPr/>
        </p:nvSpPr>
        <p:spPr>
          <a:xfrm>
            <a:off x="365760" y="73152"/>
            <a:ext cx="841248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Finding 2: FICO Score &amp; Credit Inquiries</a:t>
            </a:r>
            <a:endParaRPr lang="en-US" sz="2400" dirty="0"/>
          </a:p>
        </p:txBody>
      </p:sp>
      <p:sp>
        <p:nvSpPr>
          <p:cNvPr id="4" name="Text 2"/>
          <p:cNvSpPr/>
          <p:nvPr/>
        </p:nvSpPr>
        <p:spPr>
          <a:xfrm>
            <a:off x="365760" y="566928"/>
            <a:ext cx="8412480" cy="329184"/>
          </a:xfrm>
          <a:prstGeom prst="rect">
            <a:avLst/>
          </a:prstGeom>
          <a:noFill/>
          <a:ln/>
        </p:spPr>
        <p:txBody>
          <a:bodyPr wrap="square" rtlCol="0" anchor="ctr"/>
          <a:lstStyle/>
          <a:p>
            <a:pPr marL="0" indent="0">
              <a:buNone/>
            </a:pPr>
            <a:r>
              <a:rPr lang="en-US" sz="1200" i="1" dirty="0">
                <a:solidFill>
                  <a:srgbClr val="A8D4E8"/>
                </a:solidFill>
                <a:latin typeface="Calibri" pitchFamily="34" charset="0"/>
                <a:ea typeface="Calibri" pitchFamily="34" charset="-122"/>
                <a:cs typeface="Calibri" pitchFamily="34" charset="-120"/>
              </a:rPr>
              <a:t>Statistical significance testing and a key risk signal</a:t>
            </a:r>
            <a:endParaRPr lang="en-US" sz="1200" dirty="0"/>
          </a:p>
        </p:txBody>
      </p:sp>
      <p:sp>
        <p:nvSpPr>
          <p:cNvPr id="5" name="Shape 3"/>
          <p:cNvSpPr/>
          <p:nvPr/>
        </p:nvSpPr>
        <p:spPr>
          <a:xfrm>
            <a:off x="0" y="4892040"/>
            <a:ext cx="9144000" cy="251460"/>
          </a:xfrm>
          <a:prstGeom prst="rect">
            <a:avLst/>
          </a:prstGeom>
          <a:solidFill>
            <a:srgbClr val="EEF4F8"/>
          </a:solidFill>
          <a:ln w="12700">
            <a:solidFill>
              <a:srgbClr val="EEF4F8"/>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Kevin Sayavong  |  Data Analytics Capstone  |  LendingClub Loan Default Analysis</a:t>
            </a:r>
            <a:endParaRPr lang="en-US" sz="900" dirty="0"/>
          </a:p>
        </p:txBody>
      </p:sp>
      <p:pic>
        <p:nvPicPr>
          <p:cNvPr id="7" name="Image 0" descr="preencoded.png"/>
          <p:cNvPicPr>
            <a:picLocks noChangeAspect="1"/>
          </p:cNvPicPr>
          <p:nvPr/>
        </p:nvPicPr>
        <p:blipFill>
          <a:blip r:embed="rId3"/>
          <a:stretch>
            <a:fillRect/>
          </a:stretch>
        </p:blipFill>
        <p:spPr>
          <a:xfrm>
            <a:off x="274320" y="1051560"/>
            <a:ext cx="4389120" cy="2834640"/>
          </a:xfrm>
          <a:prstGeom prst="rect">
            <a:avLst/>
          </a:prstGeom>
        </p:spPr>
      </p:pic>
      <p:sp>
        <p:nvSpPr>
          <p:cNvPr id="8" name="Shape 5"/>
          <p:cNvSpPr/>
          <p:nvPr/>
        </p:nvSpPr>
        <p:spPr>
          <a:xfrm>
            <a:off x="274320" y="3950208"/>
            <a:ext cx="4389120" cy="804672"/>
          </a:xfrm>
          <a:prstGeom prst="rect">
            <a:avLst/>
          </a:prstGeom>
          <a:solidFill>
            <a:srgbClr val="EEF4F8"/>
          </a:solidFill>
          <a:ln w="6350">
            <a:solidFill>
              <a:srgbClr val="BBCFDB"/>
            </a:solidFill>
            <a:prstDash val="solid"/>
          </a:ln>
        </p:spPr>
      </p:sp>
      <p:sp>
        <p:nvSpPr>
          <p:cNvPr id="9" name="Text 6"/>
          <p:cNvSpPr/>
          <p:nvPr/>
        </p:nvSpPr>
        <p:spPr>
          <a:xfrm>
            <a:off x="411480" y="3977640"/>
            <a:ext cx="4114800" cy="749808"/>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Statistical Result: </a:t>
            </a:r>
            <a:r>
              <a:rPr lang="en-US" sz="1000" dirty="0">
                <a:solidFill>
                  <a:srgbClr val="2D3748"/>
                </a:solidFill>
                <a:latin typeface="Calibri" pitchFamily="34" charset="0"/>
                <a:ea typeface="Calibri" pitchFamily="34" charset="-122"/>
                <a:cs typeface="Calibri" pitchFamily="34" charset="-120"/>
              </a:rPr>
              <a:t>The 15-point gap is statistically significant (p&lt;0.001), but the effect size is small (Cohen's d=0.43). Large distribution overlap means FICO alone cannot reliably separate defaulters from repayers — it must be combined with other variables.</a:t>
            </a:r>
            <a:endParaRPr lang="en-US" sz="1000" dirty="0"/>
          </a:p>
        </p:txBody>
      </p:sp>
      <p:pic>
        <p:nvPicPr>
          <p:cNvPr id="10" name="Image 1" descr="preencoded.png"/>
          <p:cNvPicPr>
            <a:picLocks noChangeAspect="1"/>
          </p:cNvPicPr>
          <p:nvPr/>
        </p:nvPicPr>
        <p:blipFill>
          <a:blip r:embed="rId4"/>
          <a:stretch>
            <a:fillRect/>
          </a:stretch>
        </p:blipFill>
        <p:spPr>
          <a:xfrm>
            <a:off x="4754880" y="1051560"/>
            <a:ext cx="4114800" cy="2834640"/>
          </a:xfrm>
          <a:prstGeom prst="rect">
            <a:avLst/>
          </a:prstGeom>
        </p:spPr>
      </p:pic>
      <p:sp>
        <p:nvSpPr>
          <p:cNvPr id="11" name="Shape 7"/>
          <p:cNvSpPr/>
          <p:nvPr/>
        </p:nvSpPr>
        <p:spPr>
          <a:xfrm>
            <a:off x="4754880" y="3950208"/>
            <a:ext cx="4114800" cy="804672"/>
          </a:xfrm>
          <a:prstGeom prst="rect">
            <a:avLst/>
          </a:prstGeom>
          <a:solidFill>
            <a:srgbClr val="FFF0EE"/>
          </a:solidFill>
          <a:ln w="6350">
            <a:solidFill>
              <a:srgbClr val="E8BCBA"/>
            </a:solidFill>
            <a:prstDash val="solid"/>
          </a:ln>
        </p:spPr>
      </p:sp>
      <p:sp>
        <p:nvSpPr>
          <p:cNvPr id="12" name="Text 8"/>
          <p:cNvSpPr/>
          <p:nvPr/>
        </p:nvSpPr>
        <p:spPr>
          <a:xfrm>
            <a:off x="4892040" y="3977640"/>
            <a:ext cx="3840480" cy="749808"/>
          </a:xfrm>
          <a:prstGeom prst="rect">
            <a:avLst/>
          </a:prstGeom>
          <a:noFill/>
          <a:ln/>
        </p:spPr>
        <p:txBody>
          <a:bodyPr wrap="square"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Key Signal: </a:t>
            </a:r>
            <a:r>
              <a:rPr lang="en-US" sz="1000" dirty="0">
                <a:solidFill>
                  <a:srgbClr val="2D3748"/>
                </a:solidFill>
                <a:latin typeface="Calibri" pitchFamily="34" charset="0"/>
                <a:ea typeface="Calibri" pitchFamily="34" charset="-122"/>
                <a:cs typeface="Calibri" pitchFamily="34" charset="-120"/>
              </a:rPr>
              <a:t>At 4+ inquiries, defaulted borrowers are more than twice as likely to hit that threshold (23.2% vs. 10.9%). The signal strengthens at 5+ (2.5x more likely). 4+ may be a more defensible underwriting flag than 3+ — sharper signal, less noise.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5A82"/>
          </a:solidFill>
          <a:ln w="12700">
            <a:solidFill>
              <a:srgbClr val="065A82"/>
            </a:solidFill>
            <a:prstDash val="solid"/>
          </a:ln>
        </p:spPr>
      </p:sp>
      <p:sp>
        <p:nvSpPr>
          <p:cNvPr id="3" name="Text 1"/>
          <p:cNvSpPr/>
          <p:nvPr/>
        </p:nvSpPr>
        <p:spPr>
          <a:xfrm>
            <a:off x="365760" y="73152"/>
            <a:ext cx="841248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Finding 3: Payment Burden &amp; Loan Purpose</a:t>
            </a:r>
            <a:endParaRPr lang="en-US" sz="2400" dirty="0"/>
          </a:p>
        </p:txBody>
      </p:sp>
      <p:sp>
        <p:nvSpPr>
          <p:cNvPr id="4" name="Text 2"/>
          <p:cNvSpPr/>
          <p:nvPr/>
        </p:nvSpPr>
        <p:spPr>
          <a:xfrm>
            <a:off x="365760" y="566928"/>
            <a:ext cx="8412480" cy="329184"/>
          </a:xfrm>
          <a:prstGeom prst="rect">
            <a:avLst/>
          </a:prstGeom>
          <a:noFill/>
          <a:ln/>
        </p:spPr>
        <p:txBody>
          <a:bodyPr wrap="square" rtlCol="0" anchor="ctr"/>
          <a:lstStyle/>
          <a:p>
            <a:pPr marL="0" indent="0">
              <a:buNone/>
            </a:pPr>
            <a:r>
              <a:rPr lang="en-US" sz="1200" i="1" dirty="0">
                <a:solidFill>
                  <a:srgbClr val="A8D4E8"/>
                </a:solidFill>
                <a:latin typeface="Calibri" pitchFamily="34" charset="0"/>
                <a:ea typeface="Calibri" pitchFamily="34" charset="-122"/>
                <a:cs typeface="Calibri" pitchFamily="34" charset="-120"/>
              </a:rPr>
              <a:t>Engineered metric analysis and default rates by purpose</a:t>
            </a:r>
            <a:endParaRPr lang="en-US" sz="1200" dirty="0"/>
          </a:p>
        </p:txBody>
      </p:sp>
      <p:sp>
        <p:nvSpPr>
          <p:cNvPr id="5" name="Shape 3"/>
          <p:cNvSpPr/>
          <p:nvPr/>
        </p:nvSpPr>
        <p:spPr>
          <a:xfrm>
            <a:off x="0" y="4892040"/>
            <a:ext cx="9144000" cy="251460"/>
          </a:xfrm>
          <a:prstGeom prst="rect">
            <a:avLst/>
          </a:prstGeom>
          <a:solidFill>
            <a:srgbClr val="EEF4F8"/>
          </a:solidFill>
          <a:ln w="12700">
            <a:solidFill>
              <a:srgbClr val="EEF4F8"/>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Kevin Sayavong  |  Data Analytics Capstone  |  LendingClub Loan Default Analysis</a:t>
            </a:r>
            <a:endParaRPr lang="en-US" sz="900" dirty="0"/>
          </a:p>
        </p:txBody>
      </p:sp>
      <p:pic>
        <p:nvPicPr>
          <p:cNvPr id="7" name="Image 0" descr="preencoded.png"/>
          <p:cNvPicPr>
            <a:picLocks noChangeAspect="1"/>
          </p:cNvPicPr>
          <p:nvPr/>
        </p:nvPicPr>
        <p:blipFill>
          <a:blip r:embed="rId3"/>
          <a:stretch>
            <a:fillRect/>
          </a:stretch>
        </p:blipFill>
        <p:spPr>
          <a:xfrm>
            <a:off x="274320" y="1051560"/>
            <a:ext cx="4114800" cy="2834640"/>
          </a:xfrm>
          <a:prstGeom prst="rect">
            <a:avLst/>
          </a:prstGeom>
        </p:spPr>
      </p:pic>
      <p:sp>
        <p:nvSpPr>
          <p:cNvPr id="8" name="Shape 5"/>
          <p:cNvSpPr/>
          <p:nvPr/>
        </p:nvSpPr>
        <p:spPr>
          <a:xfrm>
            <a:off x="274320" y="3950208"/>
            <a:ext cx="4114800" cy="804672"/>
          </a:xfrm>
          <a:prstGeom prst="rect">
            <a:avLst/>
          </a:prstGeom>
          <a:solidFill>
            <a:srgbClr val="FFF8E1"/>
          </a:solidFill>
          <a:ln w="12700">
            <a:solidFill>
              <a:srgbClr val="F5C842"/>
            </a:solidFill>
            <a:prstDash val="solid"/>
          </a:ln>
        </p:spPr>
      </p:sp>
      <p:sp>
        <p:nvSpPr>
          <p:cNvPr id="9" name="Text 6"/>
          <p:cNvSpPr/>
          <p:nvPr/>
        </p:nvSpPr>
        <p:spPr>
          <a:xfrm>
            <a:off x="411480" y="3977640"/>
            <a:ext cx="3840480" cy="749808"/>
          </a:xfrm>
          <a:prstGeom prst="rect">
            <a:avLst/>
          </a:prstGeom>
          <a:noFill/>
          <a:ln/>
        </p:spPr>
        <p:txBody>
          <a:bodyPr wrap="square" rtlCol="0" anchor="ctr"/>
          <a:lstStyle/>
          <a:p>
            <a:pPr marL="0" indent="0">
              <a:buNone/>
            </a:pPr>
            <a:r>
              <a:rPr lang="en-US" sz="1000" b="1" dirty="0">
                <a:solidFill>
                  <a:srgbClr val="8B5E00"/>
                </a:solidFill>
                <a:latin typeface="Calibri" pitchFamily="34" charset="0"/>
                <a:ea typeface="Calibri" pitchFamily="34" charset="-122"/>
                <a:cs typeface="Calibri" pitchFamily="34" charset="-120"/>
              </a:rPr>
              <a:t>Statistical Note: </a:t>
            </a:r>
            <a:r>
              <a:rPr lang="en-US" sz="1000" dirty="0">
                <a:solidFill>
                  <a:srgbClr val="2D3748"/>
                </a:solidFill>
                <a:latin typeface="Calibri" pitchFamily="34" charset="0"/>
                <a:ea typeface="Calibri" pitchFamily="34" charset="-122"/>
                <a:cs typeface="Calibri" pitchFamily="34" charset="-120"/>
              </a:rPr>
              <a:t>Statistically significant (p&lt;0.001), but the effect size is very small (Cohen's d=0.19). The 0.89% gap and heavy overlap mean this variable is not a reliable standalone predictor. Further data exploration is needed before establishing a policy threshold.</a:t>
            </a:r>
            <a:endParaRPr lang="en-US" sz="1000" dirty="0"/>
          </a:p>
        </p:txBody>
      </p:sp>
      <p:pic>
        <p:nvPicPr>
          <p:cNvPr id="10" name="Image 1" descr="preencoded.png"/>
          <p:cNvPicPr>
            <a:picLocks noChangeAspect="1"/>
          </p:cNvPicPr>
          <p:nvPr/>
        </p:nvPicPr>
        <p:blipFill>
          <a:blip r:embed="rId4"/>
          <a:stretch>
            <a:fillRect/>
          </a:stretch>
        </p:blipFill>
        <p:spPr>
          <a:xfrm>
            <a:off x="4663440" y="1051560"/>
            <a:ext cx="4114800" cy="3657600"/>
          </a:xfrm>
          <a:prstGeom prst="rect">
            <a:avLst/>
          </a:prstGeom>
        </p:spPr>
      </p:pic>
      <p:sp>
        <p:nvSpPr>
          <p:cNvPr id="11" name="Text 7"/>
          <p:cNvSpPr/>
          <p:nvPr/>
        </p:nvSpPr>
        <p:spPr>
          <a:xfrm>
            <a:off x="4663440" y="4736592"/>
            <a:ext cx="4114800" cy="228600"/>
          </a:xfrm>
          <a:prstGeom prst="rect">
            <a:avLst/>
          </a:prstGeom>
          <a:no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Dashed line = platform average (16.0%)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5A82"/>
          </a:solidFill>
          <a:ln w="12700">
            <a:solidFill>
              <a:srgbClr val="065A82"/>
            </a:solidFill>
            <a:prstDash val="solid"/>
          </a:ln>
        </p:spPr>
      </p:sp>
      <p:sp>
        <p:nvSpPr>
          <p:cNvPr id="3" name="Text 1"/>
          <p:cNvSpPr/>
          <p:nvPr/>
        </p:nvSpPr>
        <p:spPr>
          <a:xfrm>
            <a:off x="365760" y="73152"/>
            <a:ext cx="841248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Predictive Model Results</a:t>
            </a:r>
            <a:endParaRPr lang="en-US" sz="2400" dirty="0"/>
          </a:p>
        </p:txBody>
      </p:sp>
      <p:sp>
        <p:nvSpPr>
          <p:cNvPr id="4" name="Text 2"/>
          <p:cNvSpPr/>
          <p:nvPr/>
        </p:nvSpPr>
        <p:spPr>
          <a:xfrm>
            <a:off x="365760" y="566928"/>
            <a:ext cx="8412480" cy="329184"/>
          </a:xfrm>
          <a:prstGeom prst="rect">
            <a:avLst/>
          </a:prstGeom>
          <a:noFill/>
          <a:ln/>
        </p:spPr>
        <p:txBody>
          <a:bodyPr wrap="square" rtlCol="0" anchor="ctr"/>
          <a:lstStyle/>
          <a:p>
            <a:pPr marL="0" indent="0">
              <a:buNone/>
            </a:pPr>
            <a:r>
              <a:rPr lang="en-US" sz="1200" i="1" dirty="0">
                <a:solidFill>
                  <a:srgbClr val="A8D4E8"/>
                </a:solidFill>
                <a:latin typeface="Calibri" pitchFamily="34" charset="0"/>
                <a:ea typeface="Calibri" pitchFamily="34" charset="-122"/>
                <a:cs typeface="Calibri" pitchFamily="34" charset="-120"/>
              </a:rPr>
              <a:t>Logistic Regression — Balanced Dataset — 80/20 Train/Test Split</a:t>
            </a:r>
            <a:endParaRPr lang="en-US" sz="1200" dirty="0"/>
          </a:p>
        </p:txBody>
      </p:sp>
      <p:sp>
        <p:nvSpPr>
          <p:cNvPr id="5" name="Shape 3"/>
          <p:cNvSpPr/>
          <p:nvPr/>
        </p:nvSpPr>
        <p:spPr>
          <a:xfrm>
            <a:off x="0" y="4892040"/>
            <a:ext cx="9144000" cy="251460"/>
          </a:xfrm>
          <a:prstGeom prst="rect">
            <a:avLst/>
          </a:prstGeom>
          <a:solidFill>
            <a:srgbClr val="EEF4F8"/>
          </a:solidFill>
          <a:ln w="12700">
            <a:solidFill>
              <a:srgbClr val="EEF4F8"/>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Kevin Sayavong  |  Data Analytics Capstone  |  LendingClub Loan Default Analysis</a:t>
            </a:r>
            <a:endParaRPr lang="en-US" sz="900" dirty="0"/>
          </a:p>
        </p:txBody>
      </p:sp>
      <p:pic>
        <p:nvPicPr>
          <p:cNvPr id="7" name="Image 0" descr="preencoded.png"/>
          <p:cNvPicPr>
            <a:picLocks noChangeAspect="1"/>
          </p:cNvPicPr>
          <p:nvPr/>
        </p:nvPicPr>
        <p:blipFill>
          <a:blip r:embed="rId3"/>
          <a:stretch>
            <a:fillRect/>
          </a:stretch>
        </p:blipFill>
        <p:spPr>
          <a:xfrm>
            <a:off x="274320" y="1051560"/>
            <a:ext cx="4023360" cy="3017520"/>
          </a:xfrm>
          <a:prstGeom prst="rect">
            <a:avLst/>
          </a:prstGeom>
        </p:spPr>
      </p:pic>
      <p:sp>
        <p:nvSpPr>
          <p:cNvPr id="8" name="Text 5"/>
          <p:cNvSpPr/>
          <p:nvPr/>
        </p:nvSpPr>
        <p:spPr>
          <a:xfrm>
            <a:off x="274320" y="4114800"/>
            <a:ext cx="4023360" cy="201168"/>
          </a:xfrm>
          <a:prstGeom prst="rect">
            <a:avLst/>
          </a:prstGeom>
          <a:no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Confusion matrix on held-out test data</a:t>
            </a:r>
            <a:endParaRPr lang="en-US" sz="900" dirty="0"/>
          </a:p>
        </p:txBody>
      </p:sp>
      <p:sp>
        <p:nvSpPr>
          <p:cNvPr id="9" name="Shape 6"/>
          <p:cNvSpPr/>
          <p:nvPr/>
        </p:nvSpPr>
        <p:spPr>
          <a:xfrm>
            <a:off x="4572000" y="1097280"/>
            <a:ext cx="1371600" cy="1188720"/>
          </a:xfrm>
          <a:prstGeom prst="rect">
            <a:avLst/>
          </a:prstGeom>
          <a:solidFill>
            <a:srgbClr val="065A82"/>
          </a:solidFill>
          <a:ln/>
          <a:effectLst>
            <a:outerShdw blurRad="101600" dist="25400" dir="8100000" algn="bl" rotWithShape="0">
              <a:srgbClr val="000000">
                <a:alpha val="10000"/>
              </a:srgbClr>
            </a:outerShdw>
          </a:effectLst>
        </p:spPr>
      </p:sp>
      <p:sp>
        <p:nvSpPr>
          <p:cNvPr id="10" name="Text 7"/>
          <p:cNvSpPr/>
          <p:nvPr/>
        </p:nvSpPr>
        <p:spPr>
          <a:xfrm>
            <a:off x="4572000" y="1188720"/>
            <a:ext cx="1371600" cy="653796"/>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62%</a:t>
            </a:r>
            <a:endParaRPr lang="en-US" sz="2600" dirty="0"/>
          </a:p>
        </p:txBody>
      </p:sp>
      <p:sp>
        <p:nvSpPr>
          <p:cNvPr id="11" name="Text 8"/>
          <p:cNvSpPr/>
          <p:nvPr/>
        </p:nvSpPr>
        <p:spPr>
          <a:xfrm>
            <a:off x="4572000" y="1786738"/>
            <a:ext cx="1371600" cy="451714"/>
          </a:xfrm>
          <a:prstGeom prst="rect">
            <a:avLst/>
          </a:prstGeom>
          <a:noFill/>
          <a:ln/>
        </p:spPr>
        <p:txBody>
          <a:bodyPr wrap="square" rtlCol="0" anchor="t"/>
          <a:lstStyle/>
          <a:p>
            <a:pPr marL="0" indent="0" algn="ctr">
              <a:buNone/>
            </a:pPr>
            <a:r>
              <a:rPr lang="en-US" sz="1000" dirty="0">
                <a:solidFill>
                  <a:srgbClr val="CCE8F4"/>
                </a:solidFill>
                <a:latin typeface="Calibri" pitchFamily="34" charset="0"/>
                <a:ea typeface="Calibri" pitchFamily="34" charset="-122"/>
                <a:cs typeface="Calibri" pitchFamily="34" charset="-120"/>
              </a:rPr>
              <a:t>Overall Accuracy</a:t>
            </a:r>
            <a:endParaRPr lang="en-US" sz="1000" dirty="0"/>
          </a:p>
        </p:txBody>
      </p:sp>
      <p:sp>
        <p:nvSpPr>
          <p:cNvPr id="12" name="Shape 9"/>
          <p:cNvSpPr/>
          <p:nvPr/>
        </p:nvSpPr>
        <p:spPr>
          <a:xfrm>
            <a:off x="6080760" y="1097280"/>
            <a:ext cx="1371600" cy="1188720"/>
          </a:xfrm>
          <a:prstGeom prst="rect">
            <a:avLst/>
          </a:prstGeom>
          <a:solidFill>
            <a:srgbClr val="B85042"/>
          </a:solidFill>
          <a:ln/>
          <a:effectLst>
            <a:outerShdw blurRad="101600" dist="25400" dir="8100000" algn="bl" rotWithShape="0">
              <a:srgbClr val="000000">
                <a:alpha val="10000"/>
              </a:srgbClr>
            </a:outerShdw>
          </a:effectLst>
        </p:spPr>
      </p:sp>
      <p:sp>
        <p:nvSpPr>
          <p:cNvPr id="13" name="Text 10"/>
          <p:cNvSpPr/>
          <p:nvPr/>
        </p:nvSpPr>
        <p:spPr>
          <a:xfrm>
            <a:off x="6080760" y="1188720"/>
            <a:ext cx="1371600" cy="653796"/>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61%</a:t>
            </a:r>
            <a:endParaRPr lang="en-US" sz="2600" dirty="0"/>
          </a:p>
        </p:txBody>
      </p:sp>
      <p:sp>
        <p:nvSpPr>
          <p:cNvPr id="14" name="Text 11"/>
          <p:cNvSpPr/>
          <p:nvPr/>
        </p:nvSpPr>
        <p:spPr>
          <a:xfrm>
            <a:off x="6080760" y="1786738"/>
            <a:ext cx="1371600" cy="451714"/>
          </a:xfrm>
          <a:prstGeom prst="rect">
            <a:avLst/>
          </a:prstGeom>
          <a:noFill/>
          <a:ln/>
        </p:spPr>
        <p:txBody>
          <a:bodyPr wrap="square" rtlCol="0" anchor="t"/>
          <a:lstStyle/>
          <a:p>
            <a:pPr marL="0" indent="0" algn="ctr">
              <a:buNone/>
            </a:pPr>
            <a:r>
              <a:rPr lang="en-US" sz="1000" dirty="0">
                <a:solidFill>
                  <a:srgbClr val="CCE8F4"/>
                </a:solidFill>
                <a:latin typeface="Calibri" pitchFamily="34" charset="0"/>
                <a:ea typeface="Calibri" pitchFamily="34" charset="-122"/>
                <a:cs typeface="Calibri" pitchFamily="34" charset="-120"/>
              </a:rPr>
              <a:t>Default Recall</a:t>
            </a:r>
            <a:endParaRPr lang="en-US" sz="1000" dirty="0"/>
          </a:p>
          <a:p>
            <a:pPr marL="0" indent="0" algn="ctr">
              <a:buNone/>
            </a:pPr>
            <a:r>
              <a:rPr lang="en-US" sz="1000" dirty="0">
                <a:solidFill>
                  <a:srgbClr val="CCE8F4"/>
                </a:solidFill>
                <a:latin typeface="Calibri" pitchFamily="34" charset="0"/>
                <a:ea typeface="Calibri" pitchFamily="34" charset="-122"/>
                <a:cs typeface="Calibri" pitchFamily="34" charset="-120"/>
              </a:rPr>
              <a:t>(defaults caught)</a:t>
            </a:r>
            <a:endParaRPr lang="en-US" sz="1000" dirty="0"/>
          </a:p>
        </p:txBody>
      </p:sp>
      <p:sp>
        <p:nvSpPr>
          <p:cNvPr id="15" name="Shape 12"/>
          <p:cNvSpPr/>
          <p:nvPr/>
        </p:nvSpPr>
        <p:spPr>
          <a:xfrm>
            <a:off x="7589520" y="1097280"/>
            <a:ext cx="1371600" cy="1188720"/>
          </a:xfrm>
          <a:prstGeom prst="rect">
            <a:avLst/>
          </a:prstGeom>
          <a:solidFill>
            <a:srgbClr val="1C7293"/>
          </a:solidFill>
          <a:ln/>
          <a:effectLst>
            <a:outerShdw blurRad="101600" dist="25400" dir="8100000" algn="bl" rotWithShape="0">
              <a:srgbClr val="000000">
                <a:alpha val="10000"/>
              </a:srgbClr>
            </a:outerShdw>
          </a:effectLst>
        </p:spPr>
      </p:sp>
      <p:sp>
        <p:nvSpPr>
          <p:cNvPr id="16" name="Text 13"/>
          <p:cNvSpPr/>
          <p:nvPr/>
        </p:nvSpPr>
        <p:spPr>
          <a:xfrm>
            <a:off x="7589520" y="1188720"/>
            <a:ext cx="1371600" cy="653796"/>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64%</a:t>
            </a:r>
            <a:endParaRPr lang="en-US" sz="2600" dirty="0"/>
          </a:p>
        </p:txBody>
      </p:sp>
      <p:sp>
        <p:nvSpPr>
          <p:cNvPr id="17" name="Text 14"/>
          <p:cNvSpPr/>
          <p:nvPr/>
        </p:nvSpPr>
        <p:spPr>
          <a:xfrm>
            <a:off x="7589520" y="1786738"/>
            <a:ext cx="1371600" cy="451714"/>
          </a:xfrm>
          <a:prstGeom prst="rect">
            <a:avLst/>
          </a:prstGeom>
          <a:noFill/>
          <a:ln/>
        </p:spPr>
        <p:txBody>
          <a:bodyPr wrap="square" rtlCol="0" anchor="t"/>
          <a:lstStyle/>
          <a:p>
            <a:pPr marL="0" indent="0" algn="ctr">
              <a:buNone/>
            </a:pPr>
            <a:r>
              <a:rPr lang="en-US" sz="1000" dirty="0">
                <a:solidFill>
                  <a:srgbClr val="CCE8F4"/>
                </a:solidFill>
                <a:latin typeface="Calibri" pitchFamily="34" charset="0"/>
                <a:ea typeface="Calibri" pitchFamily="34" charset="-122"/>
                <a:cs typeface="Calibri" pitchFamily="34" charset="-120"/>
              </a:rPr>
              <a:t>Default Precision</a:t>
            </a:r>
            <a:endParaRPr lang="en-US" sz="1000" dirty="0"/>
          </a:p>
        </p:txBody>
      </p:sp>
      <p:sp>
        <p:nvSpPr>
          <p:cNvPr id="18" name="Shape 15"/>
          <p:cNvSpPr/>
          <p:nvPr/>
        </p:nvSpPr>
        <p:spPr>
          <a:xfrm>
            <a:off x="4572000" y="2423160"/>
            <a:ext cx="4251960" cy="2423160"/>
          </a:xfrm>
          <a:prstGeom prst="rect">
            <a:avLst/>
          </a:prstGeom>
          <a:solidFill>
            <a:srgbClr val="EEF4F8"/>
          </a:solidFill>
          <a:ln w="6350">
            <a:solidFill>
              <a:srgbClr val="BBCFDB"/>
            </a:solidFill>
            <a:prstDash val="solid"/>
          </a:ln>
        </p:spPr>
      </p:sp>
      <p:sp>
        <p:nvSpPr>
          <p:cNvPr id="19" name="Text 16"/>
          <p:cNvSpPr/>
          <p:nvPr/>
        </p:nvSpPr>
        <p:spPr>
          <a:xfrm>
            <a:off x="4709160" y="2487168"/>
            <a:ext cx="3931920" cy="274320"/>
          </a:xfrm>
          <a:prstGeom prst="rect">
            <a:avLst/>
          </a:prstGeom>
          <a:noFill/>
          <a:ln/>
        </p:spPr>
        <p:txBody>
          <a:bodyPr wrap="square"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How to interpret these results</a:t>
            </a:r>
            <a:endParaRPr lang="en-US" sz="1200" dirty="0"/>
          </a:p>
        </p:txBody>
      </p:sp>
      <p:sp>
        <p:nvSpPr>
          <p:cNvPr id="20" name="Text 17"/>
          <p:cNvSpPr/>
          <p:nvPr/>
        </p:nvSpPr>
        <p:spPr>
          <a:xfrm>
            <a:off x="4709160" y="2798064"/>
            <a:ext cx="3977640" cy="43891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 Our model catches 61% of actual defaults.</a:t>
            </a:r>
            <a:endParaRPr lang="en-US" sz="1100" dirty="0"/>
          </a:p>
        </p:txBody>
      </p:sp>
      <p:sp>
        <p:nvSpPr>
          <p:cNvPr id="21" name="Text 18"/>
          <p:cNvSpPr/>
          <p:nvPr/>
        </p:nvSpPr>
        <p:spPr>
          <a:xfrm>
            <a:off x="4709160" y="3273552"/>
            <a:ext cx="3977640" cy="43891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 A model that always predicts "repaid" would be 84% accurate — but catch 0% of defaults.</a:t>
            </a:r>
            <a:endParaRPr lang="en-US" sz="1100" dirty="0"/>
          </a:p>
        </p:txBody>
      </p:sp>
      <p:sp>
        <p:nvSpPr>
          <p:cNvPr id="22" name="Text 19"/>
          <p:cNvSpPr/>
          <p:nvPr/>
        </p:nvSpPr>
        <p:spPr>
          <a:xfrm>
            <a:off x="4709160" y="3749040"/>
            <a:ext cx="3977640" cy="438912"/>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 62% is only 12 points above random chance (50%). This model needs further development before real-world use.</a:t>
            </a:r>
            <a:endParaRPr lang="en-US" sz="1100" dirty="0"/>
          </a:p>
        </p:txBody>
      </p:sp>
      <p:sp>
        <p:nvSpPr>
          <p:cNvPr id="23" name="Text 20"/>
          <p:cNvSpPr/>
          <p:nvPr/>
        </p:nvSpPr>
        <p:spPr>
          <a:xfrm>
            <a:off x="4709160" y="4224528"/>
            <a:ext cx="3977640" cy="438912"/>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 To improve: add payment history, employment duration, total assets, and bank account data.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5A82"/>
          </a:solidFill>
          <a:ln w="12700">
            <a:solidFill>
              <a:srgbClr val="065A82"/>
            </a:solidFill>
            <a:prstDash val="solid"/>
          </a:ln>
        </p:spPr>
      </p:sp>
      <p:sp>
        <p:nvSpPr>
          <p:cNvPr id="3" name="Text 1"/>
          <p:cNvSpPr/>
          <p:nvPr/>
        </p:nvSpPr>
        <p:spPr>
          <a:xfrm>
            <a:off x="365760" y="73152"/>
            <a:ext cx="841248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the Model Learned</a:t>
            </a:r>
            <a:endParaRPr lang="en-US" sz="2400" dirty="0"/>
          </a:p>
        </p:txBody>
      </p:sp>
      <p:sp>
        <p:nvSpPr>
          <p:cNvPr id="4" name="Text 2"/>
          <p:cNvSpPr/>
          <p:nvPr/>
        </p:nvSpPr>
        <p:spPr>
          <a:xfrm>
            <a:off x="365760" y="566928"/>
            <a:ext cx="8412480" cy="329184"/>
          </a:xfrm>
          <a:prstGeom prst="rect">
            <a:avLst/>
          </a:prstGeom>
          <a:noFill/>
          <a:ln/>
        </p:spPr>
        <p:txBody>
          <a:bodyPr wrap="square" rtlCol="0" anchor="ctr"/>
          <a:lstStyle/>
          <a:p>
            <a:pPr marL="0" indent="0">
              <a:buNone/>
            </a:pPr>
            <a:r>
              <a:rPr lang="en-US" sz="1200" i="1" dirty="0">
                <a:solidFill>
                  <a:srgbClr val="A8D4E8"/>
                </a:solidFill>
                <a:latin typeface="Calibri" pitchFamily="34" charset="0"/>
                <a:ea typeface="Calibri" pitchFamily="34" charset="-122"/>
                <a:cs typeface="Calibri" pitchFamily="34" charset="-120"/>
              </a:rPr>
              <a:t>Comparing model coefficients to the correlation analysis</a:t>
            </a:r>
            <a:endParaRPr lang="en-US" sz="1200" dirty="0"/>
          </a:p>
        </p:txBody>
      </p:sp>
      <p:sp>
        <p:nvSpPr>
          <p:cNvPr id="5" name="Shape 3"/>
          <p:cNvSpPr/>
          <p:nvPr/>
        </p:nvSpPr>
        <p:spPr>
          <a:xfrm>
            <a:off x="0" y="4892040"/>
            <a:ext cx="9144000" cy="251460"/>
          </a:xfrm>
          <a:prstGeom prst="rect">
            <a:avLst/>
          </a:prstGeom>
          <a:solidFill>
            <a:srgbClr val="EEF4F8"/>
          </a:solidFill>
          <a:ln w="12700">
            <a:solidFill>
              <a:srgbClr val="EEF4F8"/>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Kevin Sayavong  |  Data Analytics Capstone  |  LendingClub Loan Default Analysis</a:t>
            </a:r>
            <a:endParaRPr lang="en-US" sz="900" dirty="0"/>
          </a:p>
        </p:txBody>
      </p:sp>
      <p:pic>
        <p:nvPicPr>
          <p:cNvPr id="7" name="Image 0" descr="preencoded.png"/>
          <p:cNvPicPr>
            <a:picLocks noChangeAspect="1"/>
          </p:cNvPicPr>
          <p:nvPr/>
        </p:nvPicPr>
        <p:blipFill>
          <a:blip r:embed="rId3"/>
          <a:stretch>
            <a:fillRect/>
          </a:stretch>
        </p:blipFill>
        <p:spPr>
          <a:xfrm>
            <a:off x="274320" y="1051560"/>
            <a:ext cx="5303520" cy="3794760"/>
          </a:xfrm>
          <a:prstGeom prst="rect">
            <a:avLst/>
          </a:prstGeom>
        </p:spPr>
      </p:pic>
      <p:sp>
        <p:nvSpPr>
          <p:cNvPr id="8" name="Text 5"/>
          <p:cNvSpPr/>
          <p:nvPr/>
        </p:nvSpPr>
        <p:spPr>
          <a:xfrm>
            <a:off x="5760720" y="1078992"/>
            <a:ext cx="3108960" cy="274320"/>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Notable shifts vs. Correlation:</a:t>
            </a:r>
            <a:endParaRPr lang="en-US" sz="1300" dirty="0"/>
          </a:p>
        </p:txBody>
      </p:sp>
      <p:sp>
        <p:nvSpPr>
          <p:cNvPr id="9" name="Shape 6"/>
          <p:cNvSpPr/>
          <p:nvPr/>
        </p:nvSpPr>
        <p:spPr>
          <a:xfrm>
            <a:off x="5760720" y="1426464"/>
            <a:ext cx="3108960" cy="768096"/>
          </a:xfrm>
          <a:prstGeom prst="rect">
            <a:avLst/>
          </a:prstGeom>
          <a:solidFill>
            <a:srgbClr val="F4F7FA"/>
          </a:solidFill>
          <a:ln w="6350">
            <a:solidFill>
              <a:srgbClr val="DDDDDD"/>
            </a:solidFill>
            <a:prstDash val="solid"/>
          </a:ln>
        </p:spPr>
      </p:sp>
      <p:sp>
        <p:nvSpPr>
          <p:cNvPr id="10" name="Shape 7"/>
          <p:cNvSpPr/>
          <p:nvPr/>
        </p:nvSpPr>
        <p:spPr>
          <a:xfrm>
            <a:off x="5760720" y="1426464"/>
            <a:ext cx="54864" cy="768096"/>
          </a:xfrm>
          <a:prstGeom prst="rect">
            <a:avLst/>
          </a:prstGeom>
          <a:solidFill>
            <a:srgbClr val="B85042"/>
          </a:solidFill>
          <a:ln w="12700">
            <a:solidFill>
              <a:srgbClr val="B85042"/>
            </a:solidFill>
            <a:prstDash val="solid"/>
          </a:ln>
        </p:spPr>
      </p:sp>
      <p:sp>
        <p:nvSpPr>
          <p:cNvPr id="11" name="Text 8"/>
          <p:cNvSpPr/>
          <p:nvPr/>
        </p:nvSpPr>
        <p:spPr>
          <a:xfrm>
            <a:off x="5897880" y="1426464"/>
            <a:ext cx="2880360" cy="768096"/>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Correlation: Interest Rate = #1 risk signal</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Model: Inquiries in Last 6 Months moved to strongest predictor of default</a:t>
            </a:r>
            <a:endParaRPr lang="en-US" sz="1000" dirty="0"/>
          </a:p>
        </p:txBody>
      </p:sp>
      <p:sp>
        <p:nvSpPr>
          <p:cNvPr id="12" name="Shape 9"/>
          <p:cNvSpPr/>
          <p:nvPr/>
        </p:nvSpPr>
        <p:spPr>
          <a:xfrm>
            <a:off x="5760720" y="2276856"/>
            <a:ext cx="3108960" cy="768096"/>
          </a:xfrm>
          <a:prstGeom prst="rect">
            <a:avLst/>
          </a:prstGeom>
          <a:solidFill>
            <a:srgbClr val="F4F7FA"/>
          </a:solidFill>
          <a:ln w="6350">
            <a:solidFill>
              <a:srgbClr val="DDDDDD"/>
            </a:solidFill>
            <a:prstDash val="solid"/>
          </a:ln>
        </p:spPr>
      </p:sp>
      <p:sp>
        <p:nvSpPr>
          <p:cNvPr id="13" name="Shape 10"/>
          <p:cNvSpPr/>
          <p:nvPr/>
        </p:nvSpPr>
        <p:spPr>
          <a:xfrm>
            <a:off x="5760720" y="2276856"/>
            <a:ext cx="54864" cy="768096"/>
          </a:xfrm>
          <a:prstGeom prst="rect">
            <a:avLst/>
          </a:prstGeom>
          <a:solidFill>
            <a:srgbClr val="1C7293"/>
          </a:solidFill>
          <a:ln w="12700">
            <a:solidFill>
              <a:srgbClr val="1C7293"/>
            </a:solidFill>
            <a:prstDash val="solid"/>
          </a:ln>
        </p:spPr>
      </p:sp>
      <p:sp>
        <p:nvSpPr>
          <p:cNvPr id="14" name="Text 11"/>
          <p:cNvSpPr/>
          <p:nvPr/>
        </p:nvSpPr>
        <p:spPr>
          <a:xfrm>
            <a:off x="5897880" y="2276856"/>
            <a:ext cx="2880360" cy="768096"/>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Correlation: FICO = top protective signal</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Model: FICO remains strong, but Log Annual Income emerged as equally important</a:t>
            </a:r>
            <a:endParaRPr lang="en-US" sz="1000" dirty="0"/>
          </a:p>
        </p:txBody>
      </p:sp>
      <p:sp>
        <p:nvSpPr>
          <p:cNvPr id="15" name="Shape 12"/>
          <p:cNvSpPr/>
          <p:nvPr/>
        </p:nvSpPr>
        <p:spPr>
          <a:xfrm>
            <a:off x="5760720" y="3127248"/>
            <a:ext cx="3108960" cy="768096"/>
          </a:xfrm>
          <a:prstGeom prst="rect">
            <a:avLst/>
          </a:prstGeom>
          <a:solidFill>
            <a:srgbClr val="F4F7FA"/>
          </a:solidFill>
          <a:ln w="6350">
            <a:solidFill>
              <a:srgbClr val="DDDDDD"/>
            </a:solidFill>
            <a:prstDash val="solid"/>
          </a:ln>
        </p:spPr>
      </p:sp>
      <p:sp>
        <p:nvSpPr>
          <p:cNvPr id="16" name="Shape 13"/>
          <p:cNvSpPr/>
          <p:nvPr/>
        </p:nvSpPr>
        <p:spPr>
          <a:xfrm>
            <a:off x="5760720" y="3127248"/>
            <a:ext cx="54864" cy="768096"/>
          </a:xfrm>
          <a:prstGeom prst="rect">
            <a:avLst/>
          </a:prstGeom>
          <a:solidFill>
            <a:srgbClr val="2E7D32"/>
          </a:solidFill>
          <a:ln w="12700">
            <a:solidFill>
              <a:srgbClr val="2E7D32"/>
            </a:solidFill>
            <a:prstDash val="solid"/>
          </a:ln>
        </p:spPr>
      </p:sp>
      <p:sp>
        <p:nvSpPr>
          <p:cNvPr id="17" name="Text 14"/>
          <p:cNvSpPr/>
          <p:nvPr/>
        </p:nvSpPr>
        <p:spPr>
          <a:xfrm>
            <a:off x="5897880" y="3127248"/>
            <a:ext cx="2880360" cy="768096"/>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Installment as Percent of Income* appears in both — but small effect size suggests caution in over-relying on it</a:t>
            </a:r>
            <a:endParaRPr lang="en-US" sz="1000" dirty="0"/>
          </a:p>
        </p:txBody>
      </p:sp>
      <p:sp>
        <p:nvSpPr>
          <p:cNvPr id="18" name="Shape 15"/>
          <p:cNvSpPr/>
          <p:nvPr/>
        </p:nvSpPr>
        <p:spPr>
          <a:xfrm>
            <a:off x="5760720" y="3977640"/>
            <a:ext cx="3108960" cy="768096"/>
          </a:xfrm>
          <a:prstGeom prst="rect">
            <a:avLst/>
          </a:prstGeom>
          <a:solidFill>
            <a:srgbClr val="FFF8E1"/>
          </a:solidFill>
          <a:ln w="12700">
            <a:solidFill>
              <a:srgbClr val="F5C842"/>
            </a:solidFill>
            <a:prstDash val="solid"/>
          </a:ln>
        </p:spPr>
      </p:sp>
      <p:sp>
        <p:nvSpPr>
          <p:cNvPr id="19" name="Shape 16"/>
          <p:cNvSpPr/>
          <p:nvPr/>
        </p:nvSpPr>
        <p:spPr>
          <a:xfrm>
            <a:off x="5760720" y="3977640"/>
            <a:ext cx="54864" cy="768096"/>
          </a:xfrm>
          <a:prstGeom prst="rect">
            <a:avLst/>
          </a:prstGeom>
          <a:solidFill>
            <a:srgbClr val="8B5E00"/>
          </a:solidFill>
          <a:ln w="12700">
            <a:solidFill>
              <a:srgbClr val="8B5E00"/>
            </a:solidFill>
            <a:prstDash val="solid"/>
          </a:ln>
        </p:spPr>
      </p:sp>
      <p:sp>
        <p:nvSpPr>
          <p:cNvPr id="20" name="Text 17"/>
          <p:cNvSpPr/>
          <p:nvPr/>
        </p:nvSpPr>
        <p:spPr>
          <a:xfrm>
            <a:off x="5897880" y="3977640"/>
            <a:ext cx="2880360" cy="768096"/>
          </a:xfrm>
          <a:prstGeom prst="rect">
            <a:avLst/>
          </a:prstGeom>
          <a:noFill/>
          <a:ln/>
        </p:spPr>
        <p:txBody>
          <a:bodyPr wrap="square" rtlCol="0" anchor="ctr"/>
          <a:lstStyle/>
          <a:p>
            <a:pPr marL="0" indent="0">
              <a:buNone/>
            </a:pPr>
            <a:r>
              <a:rPr lang="en-US" sz="1000" dirty="0">
                <a:solidFill>
                  <a:srgbClr val="2D3748"/>
                </a:solidFill>
                <a:latin typeface="Calibri" pitchFamily="34" charset="0"/>
                <a:ea typeface="Calibri" pitchFamily="34" charset="-122"/>
                <a:cs typeface="Calibri" pitchFamily="34" charset="-120"/>
              </a:rPr>
              <a:t>* Not in original dataset. Presence in both analyses supports further exploration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65A82"/>
          </a:solidFill>
          <a:ln w="12700">
            <a:solidFill>
              <a:srgbClr val="065A82"/>
            </a:solidFill>
            <a:prstDash val="solid"/>
          </a:ln>
        </p:spPr>
      </p:sp>
      <p:sp>
        <p:nvSpPr>
          <p:cNvPr id="3" name="Text 1"/>
          <p:cNvSpPr/>
          <p:nvPr/>
        </p:nvSpPr>
        <p:spPr>
          <a:xfrm>
            <a:off x="365760" y="73152"/>
            <a:ext cx="841248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Recommendations &amp; Conclusion</a:t>
            </a:r>
            <a:endParaRPr lang="en-US" sz="2400" dirty="0"/>
          </a:p>
        </p:txBody>
      </p:sp>
      <p:sp>
        <p:nvSpPr>
          <p:cNvPr id="4" name="Text 2"/>
          <p:cNvSpPr/>
          <p:nvPr/>
        </p:nvSpPr>
        <p:spPr>
          <a:xfrm>
            <a:off x="365760" y="566928"/>
            <a:ext cx="8412480" cy="329184"/>
          </a:xfrm>
          <a:prstGeom prst="rect">
            <a:avLst/>
          </a:prstGeom>
          <a:noFill/>
          <a:ln/>
        </p:spPr>
        <p:txBody>
          <a:bodyPr wrap="square" rtlCol="0" anchor="ctr"/>
          <a:lstStyle/>
          <a:p>
            <a:pPr marL="0" indent="0">
              <a:buNone/>
            </a:pPr>
            <a:r>
              <a:rPr lang="en-US" sz="1200" i="1" dirty="0">
                <a:solidFill>
                  <a:srgbClr val="A8D4E8"/>
                </a:solidFill>
                <a:latin typeface="Calibri" pitchFamily="34" charset="0"/>
                <a:ea typeface="Calibri" pitchFamily="34" charset="-122"/>
                <a:cs typeface="Calibri" pitchFamily="34" charset="-120"/>
              </a:rPr>
              <a:t>What the data suggests — and where to go from here</a:t>
            </a:r>
            <a:endParaRPr lang="en-US" sz="1200" dirty="0"/>
          </a:p>
        </p:txBody>
      </p:sp>
      <p:sp>
        <p:nvSpPr>
          <p:cNvPr id="5" name="Shape 3"/>
          <p:cNvSpPr/>
          <p:nvPr/>
        </p:nvSpPr>
        <p:spPr>
          <a:xfrm>
            <a:off x="0" y="4892040"/>
            <a:ext cx="9144000" cy="251460"/>
          </a:xfrm>
          <a:prstGeom prst="rect">
            <a:avLst/>
          </a:prstGeom>
          <a:solidFill>
            <a:srgbClr val="EEF4F8"/>
          </a:solidFill>
          <a:ln w="12700">
            <a:solidFill>
              <a:srgbClr val="EEF4F8"/>
            </a:solidFill>
            <a:prstDash val="solid"/>
          </a:ln>
        </p:spPr>
      </p:sp>
      <p:sp>
        <p:nvSpPr>
          <p:cNvPr id="6" name="Text 4"/>
          <p:cNvSpPr/>
          <p:nvPr/>
        </p:nvSpPr>
        <p:spPr>
          <a:xfrm>
            <a:off x="274320" y="4892040"/>
            <a:ext cx="8595360" cy="25146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Kevin Sayavong  |  Data Analytics Capstone  |  LendingClub Loan Default Analysis</a:t>
            </a:r>
            <a:endParaRPr lang="en-US" sz="900" dirty="0"/>
          </a:p>
        </p:txBody>
      </p:sp>
      <p:sp>
        <p:nvSpPr>
          <p:cNvPr id="7" name="Shape 5"/>
          <p:cNvSpPr/>
          <p:nvPr/>
        </p:nvSpPr>
        <p:spPr>
          <a:xfrm>
            <a:off x="274320" y="1078992"/>
            <a:ext cx="4114800" cy="1664208"/>
          </a:xfrm>
          <a:prstGeom prst="rect">
            <a:avLst/>
          </a:prstGeom>
          <a:solidFill>
            <a:srgbClr val="F4F7FA"/>
          </a:solidFill>
          <a:ln/>
          <a:effectLst>
            <a:outerShdw blurRad="101600" dist="25400" dir="8100000" algn="bl" rotWithShape="0">
              <a:srgbClr val="000000">
                <a:alpha val="10000"/>
              </a:srgbClr>
            </a:outerShdw>
          </a:effectLst>
        </p:spPr>
      </p:sp>
      <p:sp>
        <p:nvSpPr>
          <p:cNvPr id="8" name="Shape 6"/>
          <p:cNvSpPr/>
          <p:nvPr/>
        </p:nvSpPr>
        <p:spPr>
          <a:xfrm>
            <a:off x="438912" y="1252728"/>
            <a:ext cx="384048" cy="384048"/>
          </a:xfrm>
          <a:prstGeom prst="ellipse">
            <a:avLst/>
          </a:prstGeom>
          <a:solidFill>
            <a:srgbClr val="1C7293"/>
          </a:solidFill>
          <a:ln w="12700">
            <a:solidFill>
              <a:srgbClr val="1C7293"/>
            </a:solidFill>
            <a:prstDash val="solid"/>
          </a:ln>
        </p:spPr>
      </p:sp>
      <p:sp>
        <p:nvSpPr>
          <p:cNvPr id="9" name="Text 7"/>
          <p:cNvSpPr/>
          <p:nvPr/>
        </p:nvSpPr>
        <p:spPr>
          <a:xfrm>
            <a:off x="438912" y="12527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914400" y="1225296"/>
            <a:ext cx="3310128" cy="438912"/>
          </a:xfrm>
          <a:prstGeom prst="rect">
            <a:avLst/>
          </a:prstGeom>
          <a:noFill/>
          <a:ln/>
        </p:spPr>
        <p:txBody>
          <a:bodyPr wrap="square" rtlCol="0" anchor="t"/>
          <a:lstStyle/>
          <a:p>
            <a:pPr marL="0" indent="0">
              <a:buNone/>
            </a:pPr>
            <a:r>
              <a:rPr lang="en-US" sz="1200" b="1" dirty="0">
                <a:solidFill>
                  <a:srgbClr val="1C7293"/>
                </a:solidFill>
                <a:latin typeface="Calibri" pitchFamily="34" charset="0"/>
                <a:ea typeface="Calibri" pitchFamily="34" charset="-122"/>
                <a:cs typeface="Calibri" pitchFamily="34" charset="-120"/>
              </a:rPr>
              <a:t>Further Explore Payment Burden Metrics</a:t>
            </a:r>
            <a:endParaRPr lang="en-US" sz="1200" dirty="0"/>
          </a:p>
        </p:txBody>
      </p:sp>
      <p:sp>
        <p:nvSpPr>
          <p:cNvPr id="11" name="Text 9"/>
          <p:cNvSpPr/>
          <p:nvPr/>
        </p:nvSpPr>
        <p:spPr>
          <a:xfrm>
            <a:off x="438912" y="1719072"/>
            <a:ext cx="3785616" cy="914400"/>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Installment as Percent of Income showed a significant but small effect. Other calculations — total debt service ratio, liquid asset coverage — may prove more predictive. More data science work is needed.</a:t>
            </a:r>
            <a:endParaRPr lang="en-US" sz="1100" dirty="0"/>
          </a:p>
        </p:txBody>
      </p:sp>
      <p:sp>
        <p:nvSpPr>
          <p:cNvPr id="12" name="Shape 10"/>
          <p:cNvSpPr/>
          <p:nvPr/>
        </p:nvSpPr>
        <p:spPr>
          <a:xfrm>
            <a:off x="274320" y="2907792"/>
            <a:ext cx="4114800" cy="1664208"/>
          </a:xfrm>
          <a:prstGeom prst="rect">
            <a:avLst/>
          </a:prstGeom>
          <a:solidFill>
            <a:srgbClr val="F4F7FA"/>
          </a:solidFill>
          <a:ln/>
          <a:effectLst>
            <a:outerShdw blurRad="101600" dist="25400" dir="8100000" algn="bl" rotWithShape="0">
              <a:srgbClr val="000000">
                <a:alpha val="10000"/>
              </a:srgbClr>
            </a:outerShdw>
          </a:effectLst>
        </p:spPr>
      </p:sp>
      <p:sp>
        <p:nvSpPr>
          <p:cNvPr id="13" name="Shape 11"/>
          <p:cNvSpPr/>
          <p:nvPr/>
        </p:nvSpPr>
        <p:spPr>
          <a:xfrm>
            <a:off x="438912" y="3081528"/>
            <a:ext cx="384048" cy="384048"/>
          </a:xfrm>
          <a:prstGeom prst="ellipse">
            <a:avLst/>
          </a:prstGeom>
          <a:solidFill>
            <a:srgbClr val="065A82"/>
          </a:solidFill>
          <a:ln w="12700">
            <a:solidFill>
              <a:srgbClr val="065A82"/>
            </a:solidFill>
            <a:prstDash val="solid"/>
          </a:ln>
        </p:spPr>
      </p:sp>
      <p:sp>
        <p:nvSpPr>
          <p:cNvPr id="14" name="Text 12"/>
          <p:cNvSpPr/>
          <p:nvPr/>
        </p:nvSpPr>
        <p:spPr>
          <a:xfrm>
            <a:off x="438912" y="30815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914400" y="3054096"/>
            <a:ext cx="3310128" cy="438912"/>
          </a:xfrm>
          <a:prstGeom prst="rect">
            <a:avLst/>
          </a:prstGeom>
          <a:noFill/>
          <a:ln/>
        </p:spPr>
        <p:txBody>
          <a:bodyPr wrap="square" rtlCol="0" anchor="t"/>
          <a:lstStyle/>
          <a:p>
            <a:pPr marL="0" indent="0">
              <a:buNone/>
            </a:pPr>
            <a:r>
              <a:rPr lang="en-US" sz="1200" b="1" dirty="0">
                <a:solidFill>
                  <a:srgbClr val="065A82"/>
                </a:solidFill>
                <a:latin typeface="Calibri" pitchFamily="34" charset="0"/>
                <a:ea typeface="Calibri" pitchFamily="34" charset="-122"/>
                <a:cs typeface="Calibri" pitchFamily="34" charset="-120"/>
              </a:rPr>
              <a:t>Separate Risk Framework for Small Business</a:t>
            </a:r>
            <a:endParaRPr lang="en-US" sz="1200" dirty="0"/>
          </a:p>
        </p:txBody>
      </p:sp>
      <p:sp>
        <p:nvSpPr>
          <p:cNvPr id="16" name="Text 14"/>
          <p:cNvSpPr/>
          <p:nvPr/>
        </p:nvSpPr>
        <p:spPr>
          <a:xfrm>
            <a:off x="438912" y="3547872"/>
            <a:ext cx="3785616" cy="914400"/>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At 27.8% default — nearly double the platform average — small business loans warrant higher FICO minimums or adjusted interest rate pricing.</a:t>
            </a:r>
            <a:endParaRPr lang="en-US" sz="1100" dirty="0"/>
          </a:p>
        </p:txBody>
      </p:sp>
      <p:sp>
        <p:nvSpPr>
          <p:cNvPr id="17" name="Shape 15"/>
          <p:cNvSpPr/>
          <p:nvPr/>
        </p:nvSpPr>
        <p:spPr>
          <a:xfrm>
            <a:off x="4754880" y="1078992"/>
            <a:ext cx="4114800" cy="1664208"/>
          </a:xfrm>
          <a:prstGeom prst="rect">
            <a:avLst/>
          </a:prstGeom>
          <a:solidFill>
            <a:srgbClr val="F4F7FA"/>
          </a:solidFill>
          <a:ln/>
          <a:effectLst>
            <a:outerShdw blurRad="101600" dist="25400" dir="8100000" algn="bl" rotWithShape="0">
              <a:srgbClr val="000000">
                <a:alpha val="10000"/>
              </a:srgbClr>
            </a:outerShdw>
          </a:effectLst>
        </p:spPr>
      </p:sp>
      <p:sp>
        <p:nvSpPr>
          <p:cNvPr id="18" name="Shape 16"/>
          <p:cNvSpPr/>
          <p:nvPr/>
        </p:nvSpPr>
        <p:spPr>
          <a:xfrm>
            <a:off x="4919472" y="1252728"/>
            <a:ext cx="384048" cy="384048"/>
          </a:xfrm>
          <a:prstGeom prst="ellipse">
            <a:avLst/>
          </a:prstGeom>
          <a:solidFill>
            <a:srgbClr val="B85042"/>
          </a:solidFill>
          <a:ln w="12700">
            <a:solidFill>
              <a:srgbClr val="B85042"/>
            </a:solidFill>
            <a:prstDash val="solid"/>
          </a:ln>
        </p:spPr>
      </p:sp>
      <p:sp>
        <p:nvSpPr>
          <p:cNvPr id="19" name="Text 17"/>
          <p:cNvSpPr/>
          <p:nvPr/>
        </p:nvSpPr>
        <p:spPr>
          <a:xfrm>
            <a:off x="4919472" y="12527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394960" y="1225296"/>
            <a:ext cx="3310128" cy="438912"/>
          </a:xfrm>
          <a:prstGeom prst="rect">
            <a:avLst/>
          </a:prstGeom>
          <a:noFill/>
          <a:ln/>
        </p:spPr>
        <p:txBody>
          <a:bodyPr wrap="square" rtlCol="0" anchor="t"/>
          <a:lstStyle/>
          <a:p>
            <a:pPr marL="0" indent="0">
              <a:buNone/>
            </a:pPr>
            <a:r>
              <a:rPr lang="en-US" sz="1200" b="1" dirty="0">
                <a:solidFill>
                  <a:srgbClr val="B85042"/>
                </a:solidFill>
                <a:latin typeface="Calibri" pitchFamily="34" charset="0"/>
                <a:ea typeface="Calibri" pitchFamily="34" charset="-122"/>
                <a:cs typeface="Calibri" pitchFamily="34" charset="-120"/>
              </a:rPr>
              <a:t>Flag 4+ Inquiries for Underwriting Review</a:t>
            </a:r>
            <a:endParaRPr lang="en-US" sz="1200" dirty="0"/>
          </a:p>
        </p:txBody>
      </p:sp>
      <p:sp>
        <p:nvSpPr>
          <p:cNvPr id="21" name="Text 19"/>
          <p:cNvSpPr/>
          <p:nvPr/>
        </p:nvSpPr>
        <p:spPr>
          <a:xfrm>
            <a:off x="4919472" y="1719072"/>
            <a:ext cx="3785616" cy="914400"/>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At 4+ inquiries, defaulted borrowers are more than 2x as likely to hit that threshold (23.2% vs. 10.9%). This could indicate financial stress — use as a flag for additional manual review, not automatic denial.</a:t>
            </a:r>
            <a:endParaRPr lang="en-US" sz="1100" dirty="0"/>
          </a:p>
        </p:txBody>
      </p:sp>
      <p:sp>
        <p:nvSpPr>
          <p:cNvPr id="22" name="Shape 20"/>
          <p:cNvSpPr/>
          <p:nvPr/>
        </p:nvSpPr>
        <p:spPr>
          <a:xfrm>
            <a:off x="4754880" y="2907792"/>
            <a:ext cx="4114800" cy="1664208"/>
          </a:xfrm>
          <a:prstGeom prst="rect">
            <a:avLst/>
          </a:prstGeom>
          <a:solidFill>
            <a:srgbClr val="F4F7FA"/>
          </a:solidFill>
          <a:ln/>
          <a:effectLst>
            <a:outerShdw blurRad="101600" dist="25400" dir="8100000" algn="bl" rotWithShape="0">
              <a:srgbClr val="000000">
                <a:alpha val="10000"/>
              </a:srgbClr>
            </a:outerShdw>
          </a:effectLst>
        </p:spPr>
      </p:sp>
      <p:sp>
        <p:nvSpPr>
          <p:cNvPr id="23" name="Shape 21"/>
          <p:cNvSpPr/>
          <p:nvPr/>
        </p:nvSpPr>
        <p:spPr>
          <a:xfrm>
            <a:off x="4919472" y="3081528"/>
            <a:ext cx="384048" cy="384048"/>
          </a:xfrm>
          <a:prstGeom prst="ellipse">
            <a:avLst/>
          </a:prstGeom>
          <a:solidFill>
            <a:srgbClr val="2E7D32"/>
          </a:solidFill>
          <a:ln w="12700">
            <a:solidFill>
              <a:srgbClr val="2E7D32"/>
            </a:solidFill>
            <a:prstDash val="solid"/>
          </a:ln>
        </p:spPr>
      </p:sp>
      <p:sp>
        <p:nvSpPr>
          <p:cNvPr id="24" name="Text 22"/>
          <p:cNvSpPr/>
          <p:nvPr/>
        </p:nvSpPr>
        <p:spPr>
          <a:xfrm>
            <a:off x="4919472" y="3081528"/>
            <a:ext cx="384048"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394960" y="3054096"/>
            <a:ext cx="3310128" cy="438912"/>
          </a:xfrm>
          <a:prstGeom prst="rect">
            <a:avLst/>
          </a:prstGeom>
          <a:noFill/>
          <a:ln/>
        </p:spPr>
        <p:txBody>
          <a:bodyPr wrap="square" rtlCol="0" anchor="t"/>
          <a:lstStyle/>
          <a:p>
            <a:pPr marL="0" indent="0">
              <a:buNone/>
            </a:pPr>
            <a:r>
              <a:rPr lang="en-US" sz="1200" b="1" dirty="0">
                <a:solidFill>
                  <a:srgbClr val="2E7D32"/>
                </a:solidFill>
                <a:latin typeface="Calibri" pitchFamily="34" charset="0"/>
                <a:ea typeface="Calibri" pitchFamily="34" charset="-122"/>
                <a:cs typeface="Calibri" pitchFamily="34" charset="-120"/>
              </a:rPr>
              <a:t>Improve the Model With Additional Data</a:t>
            </a:r>
            <a:endParaRPr lang="en-US" sz="1200" dirty="0"/>
          </a:p>
        </p:txBody>
      </p:sp>
      <p:sp>
        <p:nvSpPr>
          <p:cNvPr id="26" name="Text 24"/>
          <p:cNvSpPr/>
          <p:nvPr/>
        </p:nvSpPr>
        <p:spPr>
          <a:xfrm>
            <a:off x="4919472" y="3547872"/>
            <a:ext cx="3785616" cy="914400"/>
          </a:xfrm>
          <a:prstGeom prst="rect">
            <a:avLst/>
          </a:prstGeom>
          <a:noFill/>
          <a:ln/>
        </p:spPr>
        <p:txBody>
          <a:bodyPr wrap="square" rtlCol="0" anchor="ctr"/>
          <a:lstStyle/>
          <a:p>
            <a:pPr marL="0" indent="0">
              <a:buNone/>
            </a:pPr>
            <a:r>
              <a:rPr lang="en-US" sz="1100" dirty="0">
                <a:solidFill>
                  <a:srgbClr val="2D3748"/>
                </a:solidFill>
                <a:latin typeface="Calibri" pitchFamily="34" charset="0"/>
                <a:ea typeface="Calibri" pitchFamily="34" charset="-122"/>
                <a:cs typeface="Calibri" pitchFamily="34" charset="-120"/>
              </a:rPr>
              <a:t>Debt-service-to-income ratio (DTI) is already standard in mortgage lending and adds signal beyond FICO and interest rate alone. Adding payment history, total assets, employment duration, and bank account activity would further increase accuracy.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5A82"/>
        </a:solidFill>
        <a:effectLst/>
      </p:bgPr>
    </p:bg>
    <p:spTree>
      <p:nvGrpSpPr>
        <p:cNvPr id="1" name=""/>
        <p:cNvGrpSpPr/>
        <p:nvPr/>
      </p:nvGrpSpPr>
      <p:grpSpPr>
        <a:xfrm>
          <a:off x="0" y="0"/>
          <a:ext cx="0" cy="0"/>
          <a:chOff x="0" y="0"/>
          <a:chExt cx="0" cy="0"/>
        </a:xfrm>
      </p:grpSpPr>
      <p:sp>
        <p:nvSpPr>
          <p:cNvPr id="2" name="Shape 0"/>
          <p:cNvSpPr/>
          <p:nvPr/>
        </p:nvSpPr>
        <p:spPr>
          <a:xfrm>
            <a:off x="0" y="3547872"/>
            <a:ext cx="9144000" cy="1595628"/>
          </a:xfrm>
          <a:prstGeom prst="rect">
            <a:avLst/>
          </a:prstGeom>
          <a:solidFill>
            <a:srgbClr val="1C7293"/>
          </a:solidFill>
          <a:ln w="12700">
            <a:solidFill>
              <a:srgbClr val="1C7293"/>
            </a:solidFill>
            <a:prstDash val="solid"/>
          </a:ln>
        </p:spPr>
      </p:sp>
      <p:sp>
        <p:nvSpPr>
          <p:cNvPr id="3" name="Text 1"/>
          <p:cNvSpPr/>
          <p:nvPr/>
        </p:nvSpPr>
        <p:spPr>
          <a:xfrm>
            <a:off x="457200" y="914400"/>
            <a:ext cx="8229600" cy="1463040"/>
          </a:xfrm>
          <a:prstGeom prst="rect">
            <a:avLst/>
          </a:prstGeom>
          <a:noFill/>
          <a:ln/>
        </p:spPr>
        <p:txBody>
          <a:bodyPr wrap="square"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4" name="Text 2"/>
          <p:cNvSpPr/>
          <p:nvPr/>
        </p:nvSpPr>
        <p:spPr>
          <a:xfrm>
            <a:off x="457200" y="2423160"/>
            <a:ext cx="8229600" cy="548640"/>
          </a:xfrm>
          <a:prstGeom prst="rect">
            <a:avLst/>
          </a:prstGeom>
          <a:noFill/>
          <a:ln/>
        </p:spPr>
        <p:txBody>
          <a:bodyPr wrap="square" rtlCol="0" anchor="ctr"/>
          <a:lstStyle/>
          <a:p>
            <a:pPr marL="0" indent="0" algn="ctr">
              <a:buNone/>
            </a:pPr>
            <a:r>
              <a:rPr lang="en-US" sz="2400" i="1" dirty="0">
                <a:solidFill>
                  <a:srgbClr val="A8D4E8"/>
                </a:solidFill>
                <a:latin typeface="Calibri" pitchFamily="34" charset="0"/>
                <a:ea typeface="Calibri" pitchFamily="34" charset="-122"/>
                <a:cs typeface="Calibri" pitchFamily="34" charset="-120"/>
              </a:rPr>
              <a:t>Questions Welcome</a:t>
            </a:r>
            <a:endParaRPr lang="en-US" sz="2400" dirty="0"/>
          </a:p>
        </p:txBody>
      </p:sp>
      <p:sp>
        <p:nvSpPr>
          <p:cNvPr id="5" name="Text 3"/>
          <p:cNvSpPr/>
          <p:nvPr/>
        </p:nvSpPr>
        <p:spPr>
          <a:xfrm>
            <a:off x="457200" y="3703320"/>
            <a:ext cx="822960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Kevin Sayavong  |  Data Analytics Bootcamp  |  Dataset: LendingClub Loan Data, Kaggle</a:t>
            </a:r>
            <a:endParaRPr lang="en-US" sz="1400" dirty="0"/>
          </a:p>
        </p:txBody>
      </p:sp>
      <p:sp>
        <p:nvSpPr>
          <p:cNvPr id="6" name="Text 4"/>
          <p:cNvSpPr/>
          <p:nvPr/>
        </p:nvSpPr>
        <p:spPr>
          <a:xfrm>
            <a:off x="457200" y="4187952"/>
            <a:ext cx="8229600" cy="292608"/>
          </a:xfrm>
          <a:prstGeom prst="rect">
            <a:avLst/>
          </a:prstGeom>
          <a:noFill/>
          <a:ln/>
        </p:spPr>
        <p:txBody>
          <a:bodyPr wrap="square" lIns="91440" tIns="45720" rIns="91440" bIns="45720" rtlCol="0" anchor="ctr"/>
          <a:lstStyle/>
          <a:p>
            <a:pPr algn="ctr"/>
            <a:r>
              <a:rPr lang="en-US" sz="1100" dirty="0">
                <a:solidFill>
                  <a:srgbClr val="CCE8F4"/>
                </a:solidFill>
                <a:latin typeface="Calibri"/>
                <a:ea typeface="Calibri"/>
                <a:cs typeface="Calibri"/>
              </a:rPr>
              <a:t>loan_data_Python_Data3.csv  |  Logistic Regression  |  </a:t>
            </a:r>
            <a:r>
              <a:rPr lang="en-US" sz="1100" dirty="0" err="1">
                <a:solidFill>
                  <a:srgbClr val="CCE8F4"/>
                </a:solidFill>
                <a:latin typeface="Calibri"/>
                <a:ea typeface="Calibri"/>
                <a:cs typeface="Calibri"/>
              </a:rPr>
              <a:t>sklearn</a:t>
            </a:r>
            <a:r>
              <a:rPr lang="en-US" sz="1100" dirty="0">
                <a:solidFill>
                  <a:srgbClr val="CCE8F4"/>
                </a:solidFill>
                <a:latin typeface="Calibri"/>
                <a:ea typeface="Calibri"/>
                <a:cs typeface="Calibri"/>
              </a:rPr>
              <a:t> · pandas · </a:t>
            </a:r>
            <a:r>
              <a:rPr lang="en-US" sz="1100" dirty="0" err="1">
                <a:solidFill>
                  <a:srgbClr val="CCE8F4"/>
                </a:solidFill>
                <a:latin typeface="Calibri"/>
                <a:ea typeface="Calibri"/>
                <a:cs typeface="Calibri"/>
              </a:rPr>
              <a:t>numpy</a:t>
            </a:r>
            <a:r>
              <a:rPr lang="en-US" sz="1100" dirty="0">
                <a:solidFill>
                  <a:srgbClr val="CCE8F4"/>
                </a:solidFill>
                <a:latin typeface="Calibri"/>
                <a:ea typeface="Calibri"/>
                <a:cs typeface="Calibri"/>
              </a:rPr>
              <a:t> · </a:t>
            </a:r>
            <a:r>
              <a:rPr lang="en-US" sz="1100" dirty="0" err="1">
                <a:solidFill>
                  <a:srgbClr val="CCE8F4"/>
                </a:solidFill>
                <a:latin typeface="Calibri"/>
                <a:ea typeface="Calibri"/>
                <a:cs typeface="Calibri"/>
              </a:rPr>
              <a:t>scipy</a:t>
            </a:r>
            <a:r>
              <a:rPr lang="en-US" sz="1100" dirty="0">
                <a:solidFill>
                  <a:srgbClr val="CCE8F4"/>
                </a:solidFill>
                <a:latin typeface="Calibri"/>
                <a:ea typeface="Calibri"/>
                <a:cs typeface="Calibri"/>
              </a:rPr>
              <a:t> · </a:t>
            </a:r>
            <a:r>
              <a:rPr lang="en-US" sz="1100" dirty="0" err="1">
                <a:solidFill>
                  <a:srgbClr val="CCE8F4"/>
                </a:solidFill>
                <a:latin typeface="Calibri"/>
                <a:ea typeface="Calibri"/>
                <a:cs typeface="Calibri"/>
              </a:rPr>
              <a:t>matplolib</a:t>
            </a:r>
            <a:r>
              <a:rPr lang="en-US" sz="1100" dirty="0">
                <a:solidFill>
                  <a:srgbClr val="CCE8F4"/>
                </a:solidFill>
                <a:latin typeface="Calibri"/>
                <a:ea typeface="Calibri"/>
                <a:cs typeface="Calibri"/>
              </a:rPr>
              <a:t> · seaborn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2</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Risk &amp; Data Integrity Audit</dc:title>
  <dc:subject>PptxGenJS Presentation</dc:subject>
  <dc:creator>Kevin Sayavong</dc:creator>
  <cp:lastModifiedBy>Kevin Sayavong</cp:lastModifiedBy>
  <cp:revision>25</cp:revision>
  <dcterms:created xsi:type="dcterms:W3CDTF">2026-03-19T06:27:28Z</dcterms:created>
  <dcterms:modified xsi:type="dcterms:W3CDTF">2026-03-19T19:07:57Z</dcterms:modified>
</cp:coreProperties>
</file>